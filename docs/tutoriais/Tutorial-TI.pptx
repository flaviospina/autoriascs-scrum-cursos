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34440"/>
            <a:ext cx="969264" cy="969264"/>
          </a:xfrm>
          <a:prstGeom prst="roundRect">
            <a:avLst>
              <a:gd name="adj" fmla="val 15094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34440"/>
            <a:ext cx="969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1248" y="2606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• CECAPE SÃO CAETANO DO SUL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86384" y="29260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da Equipe TI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técnica e pedagógica, apontamentos, encaminhamento à MB Estúdios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agendamento da publicação — passo a passo.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114800" cy="457200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349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Perfil: </a:t>
            </a:r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CECAPE / TI — Revisão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29107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cecapescs.com.br/autoriascs/scrum  •  ti.cecape@scseduca.com.br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aprender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07008" y="1655064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quadro Kanban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532888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496312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 busca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374136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337560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um curso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215384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417880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Recusar com relatório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92240" y="1691640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59168" y="1655064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e encaminhar à MB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492240" y="2532888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59168" y="2496312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a publicação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492240" y="3374136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59168" y="3337560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modelos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6492240" y="4215384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59168" y="417880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e e-mails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da Equipe TI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 quadro Kanban — todos os cursos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4685" y="1463040"/>
            <a:ext cx="8603590" cy="3383280"/>
          </a:xfrm>
          <a:prstGeom prst="roundRect">
            <a:avLst>
              <a:gd name="adj" fmla="val 2432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pic>
        <p:nvPicPr>
          <p:cNvPr id="5" name="Image 0" descr="/home/user/AutoriaSCS-Scrum-cursos/docs/tutoriais/img/kanban-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4413" y="1572768"/>
            <a:ext cx="8384134" cy="31638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0292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coluna é uma etapa; cada cartão, um curso.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curso "anda" da esquerda (Backlog) para a direita (Publicado). Mova arrastando o cartão com o mouse ou abra o curso e use Ações de Status. Os botões Kanban / Tabela alternam a visualização.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da Equipe TI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Encontrar qualquer curso com os filtros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393" y="1463040"/>
            <a:ext cx="9692174" cy="1554480"/>
          </a:xfrm>
          <a:prstGeom prst="roundRect">
            <a:avLst>
              <a:gd name="adj" fmla="val 5294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pic>
        <p:nvPicPr>
          <p:cNvPr id="5" name="Image 0" descr="/home/user/AutoriaSCS-Scrum-cursos/docs/tutoriais/img/filtr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0121" y="1572768"/>
            <a:ext cx="9472718" cy="13350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3291840"/>
            <a:ext cx="5394960" cy="841248"/>
          </a:xfrm>
          <a:prstGeom prst="roundRect">
            <a:avLst>
              <a:gd name="adj" fmla="val 9783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343814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" y="3767328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fases do fluxo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3291840"/>
            <a:ext cx="5394960" cy="841248"/>
          </a:xfrm>
          <a:prstGeom prst="roundRect">
            <a:avLst>
              <a:gd name="adj" fmla="val 9783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64808" y="343814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Formador(a)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64808" y="3767328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Digite: os nomes cadastrados aparecem para escolher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4261104"/>
            <a:ext cx="5394960" cy="841248"/>
          </a:xfrm>
          <a:prstGeom prst="roundRect">
            <a:avLst>
              <a:gd name="adj" fmla="val 9783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4407408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41248" y="4736592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Baixa, Média, Alta, Urgente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63640" y="4261104"/>
            <a:ext cx="5394960" cy="841248"/>
          </a:xfrm>
          <a:prstGeom prst="roundRect">
            <a:avLst>
              <a:gd name="adj" fmla="val 9783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64808" y="4407408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ensino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64808" y="4736592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suspensa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5230368"/>
            <a:ext cx="5394960" cy="841248"/>
          </a:xfrm>
          <a:prstGeom prst="roundRect">
            <a:avLst>
              <a:gd name="adj" fmla="val 9783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1248" y="5376672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escolar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41248" y="5705856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Digite ou escolha a escola na lista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63640" y="5230368"/>
            <a:ext cx="5394960" cy="841248"/>
          </a:xfrm>
          <a:prstGeom prst="roundRect">
            <a:avLst>
              <a:gd name="adj" fmla="val 9783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64808" y="5376672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64808" y="5705856"/>
            <a:ext cx="4992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Trecho do nome do curso ou público-alvo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da Equipe TI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Revisar um curso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formador move para </a:t>
            </a:r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Análise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 TI recebe e-mail;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69748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curso e mova para </a:t>
            </a:r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Revisão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(sinaliza que a análise começou);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65760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Analise: Backlog, Checklist, </a:t>
            </a:r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na ordem oficial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(botão Baixar todos em ZIP) e Links Externos;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461772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Decida: </a:t>
            </a:r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 </a:t>
            </a:r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Recusar com relatório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(próximo slide).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66560" y="1783080"/>
            <a:ext cx="4846320" cy="3463114"/>
          </a:xfrm>
          <a:prstGeom prst="roundRect">
            <a:avLst>
              <a:gd name="adj" fmla="val 2376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pic>
        <p:nvPicPr>
          <p:cNvPr id="17" name="Image 0" descr="/home/user/AutoriaSCS-Scrum-cursos/docs/tutoriais/img/ti-acoes-revis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6288" y="1892808"/>
            <a:ext cx="4626864" cy="324365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da Equipe TI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Recusar com relatório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botão vermelho </a:t>
            </a:r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Recusar com relatório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6517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cada linha escolha o </a:t>
            </a:r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Técnico, Pedagógico, ABNT ou Outro;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5661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 o ajuste com precisão (ex.: "Slide 12 do Módulo 3: corrigir o ano da referência");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526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44805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em branco são ignoradas. Clique em </a:t>
            </a:r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Recusa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212080"/>
            <a:ext cx="5486400" cy="1005840"/>
          </a:xfrm>
          <a:prstGeom prst="roundRect">
            <a:avLst>
              <a:gd name="adj" fmla="val 8182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5358384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numa operação só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5687568"/>
            <a:ext cx="5084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os apontamentos, muda o status e envia ao formador o e-mail com a lista completa.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72598" y="1554480"/>
            <a:ext cx="4759925" cy="4663440"/>
          </a:xfrm>
          <a:prstGeom prst="roundRect">
            <a:avLst>
              <a:gd name="adj" fmla="val 1765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pic>
        <p:nvPicPr>
          <p:cNvPr id="20" name="Image 0" descr="/home/user/AutoriaSCS-Scrum-cursos/docs/tutoriais/img/ti-modal-recu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2326" y="1664208"/>
            <a:ext cx="4540469" cy="444398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da Equipe TI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Aprovar e encaminhar à MB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da revisão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784909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178490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Análise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461565" y="201168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72461" y="2011680"/>
            <a:ext cx="1060704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2461" y="2011680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Revisão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69741" y="201168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80637" y="2011680"/>
            <a:ext cx="899770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80637" y="2011680"/>
            <a:ext cx="8997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116982" y="201168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27878" y="2011680"/>
            <a:ext cx="1945843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27878" y="2011680"/>
            <a:ext cx="19458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Enviado para Inserção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2606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recusar: o formador ajusta e devolve como "Pronto para Nova Análise" — mova de novo para "Em Revisão" e repita.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32461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Análise → Em Revisão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766560" y="3246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iniciar a análise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721608"/>
            <a:ext cx="10972800" cy="0"/>
          </a:xfrm>
          <a:prstGeom prst="line">
            <a:avLst/>
          </a:prstGeom>
          <a:noFill/>
          <a:ln w="9525">
            <a:solidFill>
              <a:srgbClr val="1D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490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Nova Análise → Em Revisão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766560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iniciar a reanálise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224528"/>
            <a:ext cx="10972800" cy="0"/>
          </a:xfrm>
          <a:prstGeom prst="line">
            <a:avLst/>
          </a:prstGeom>
          <a:noFill/>
          <a:ln w="9525">
            <a:solidFill>
              <a:srgbClr val="1D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2519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Revisão → Aprovado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766560" y="4251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aprovado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727448"/>
            <a:ext cx="10972800" cy="0"/>
          </a:xfrm>
          <a:prstGeom prst="line">
            <a:avLst/>
          </a:prstGeom>
          <a:noFill/>
          <a:ln w="9525">
            <a:solidFill>
              <a:srgbClr val="1D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7548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Revisão → Recusado - Ajustes Necessários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766560" y="4754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botão "Recusar com relatório"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230368"/>
            <a:ext cx="10972800" cy="0"/>
          </a:xfrm>
          <a:prstGeom prst="line">
            <a:avLst/>
          </a:prstGeom>
          <a:noFill/>
          <a:ln w="9525">
            <a:solidFill>
              <a:srgbClr val="1D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2578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 → Enviado para Inserção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766560" y="5257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 à MB Estúdios (ela recebe e-mail)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5733288"/>
            <a:ext cx="10972800" cy="0"/>
          </a:xfrm>
          <a:prstGeom prst="line">
            <a:avLst/>
          </a:prstGeom>
          <a:noFill/>
          <a:ln w="9525">
            <a:solidFill>
              <a:srgbClr val="1D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7607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→ Pronto para Publicação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766560" y="5760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data de publicação (próximo slide)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da Equipe TI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 FINAL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Agendar a publicação — a data é obrigatória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formador confere o curso montado e marca </a:t>
            </a:r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6517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curso e escolha </a:t>
            </a:r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Publicação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5661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o campo </a:t>
            </a:r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 entrada na plataforma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clique e escolha no calendário;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526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44805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</a:t>
            </a:r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Status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Formador e MB recebem a data por e-mail.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212080"/>
            <a:ext cx="5852160" cy="1005840"/>
          </a:xfrm>
          <a:prstGeom prst="roundRect">
            <a:avLst>
              <a:gd name="adj" fmla="val 8182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5358384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disso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5687568"/>
            <a:ext cx="5449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MB publica na data e marca "Publicado" — fim do fluxo.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0" y="2011680"/>
            <a:ext cx="4754880" cy="2072549"/>
          </a:xfrm>
          <a:prstGeom prst="roundRect">
            <a:avLst>
              <a:gd name="adj" fmla="val 3971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pic>
        <p:nvPicPr>
          <p:cNvPr id="20" name="Image 0" descr="/home/user/AutoriaSCS-Scrum-cursos/docs/tutoriais/img/ti-data-public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2121408"/>
            <a:ext cx="4535424" cy="185309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da Equipe TI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Biblioteca de Modelos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760720" cy="1349134"/>
          </a:xfrm>
          <a:prstGeom prst="roundRect">
            <a:avLst>
              <a:gd name="adj" fmla="val 61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pic>
        <p:nvPicPr>
          <p:cNvPr id="5" name="Image 0" descr="/home/user/AutoriaSCS-Scrum-cursos/docs/tutoriais/img/modelos-publi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64208"/>
            <a:ext cx="5541264" cy="112967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75120" y="1554480"/>
            <a:ext cx="4937760" cy="822960"/>
          </a:xfrm>
          <a:prstGeom prst="roundRect">
            <a:avLst>
              <a:gd name="adj" fmla="val 100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76288" y="1700784"/>
            <a:ext cx="4535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e Categoria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76288" y="2029968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do template e o tipo (Slides, Estrutura, Guia...)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675120" y="2487168"/>
            <a:ext cx="4937760" cy="822960"/>
          </a:xfrm>
          <a:prstGeom prst="roundRect">
            <a:avLst>
              <a:gd name="adj" fmla="val 100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76288" y="2633472"/>
            <a:ext cx="4535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876288" y="2962656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1.0, 2.1 — o formador sabe qual é a mais nova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675120" y="3419856"/>
            <a:ext cx="4937760" cy="822960"/>
          </a:xfrm>
          <a:prstGeom prst="roundRect">
            <a:avLst>
              <a:gd name="adj" fmla="val 100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76288" y="3566160"/>
            <a:ext cx="4535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876288" y="3895344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50MB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675120" y="4352544"/>
            <a:ext cx="4937760" cy="822960"/>
          </a:xfrm>
          <a:prstGeom prst="roundRect">
            <a:avLst>
              <a:gd name="adj" fmla="val 100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76288" y="4498848"/>
            <a:ext cx="4535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Vigente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876288" y="4828032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a versão oficial que os formadores devem usar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675120" y="5285232"/>
            <a:ext cx="4937760" cy="822960"/>
          </a:xfrm>
          <a:prstGeom prst="roundRect">
            <a:avLst>
              <a:gd name="adj" fmla="val 100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76288" y="5431536"/>
            <a:ext cx="4535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Desativar / Excluir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876288" y="5760720"/>
            <a:ext cx="4535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Esconde sem apagar / remove de vez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da Equipe TI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Relatórios e e-mails automáticos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9222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Relatórios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121408"/>
            <a:ext cx="499262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Cursos por status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Produção por formador(a)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Prazos estourados e próximos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Exportação CSV (abre no Excel)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088" y="179222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 recebe e-mail quando…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19088" y="2121408"/>
            <a:ext cx="499262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Formador ou MB muda qualquer status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Um curso chega "Pronto para Análise"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Um curso é marcado "Inserido"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Alertas de prazo (7h) e resumo às segundas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10972800" cy="2011680"/>
          </a:xfrm>
          <a:prstGeom prst="roundRect">
            <a:avLst>
              <a:gd name="adj" fmla="val 4091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169664"/>
            <a:ext cx="1057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do curso — sempre na ordem oficial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4498848"/>
            <a:ext cx="1057046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de arquivos aparece na ordem de entrega (Geral → Módulo 1 → ... e, dentro do módulo, na sequência das categorias). O botão "Baixar todos (ZIP)" baixa o pacote completo com pastas numeradas — ideal para conferir a entrega inteira de uma vez. Categorias declaradas "sem material" pelo formador não aparecem (e não são erro).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da Equipe TI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ajuda?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92224"/>
            <a:ext cx="10479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Formador diz que não consegue mover o curso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121408"/>
            <a:ext cx="10479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a fase atual: cada perfil só move nas suas transições. Se necessário, o ADMIN revisa a tela Transições por perfil.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706624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852928"/>
            <a:ext cx="10479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enviado errado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3182112"/>
            <a:ext cx="10479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o ADMIN exclui arquivos (botão Excluir na lista, com auditoria e recálculo da sequência).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67328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913632"/>
            <a:ext cx="10479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não chegou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4242816"/>
            <a:ext cx="10479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Notificações mostra a fila (enviado, pendente, erro) e permite reprocessar.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 TI do CECAPE  •  </a:t>
            </a:r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ti.cecape@scseduca.com.br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da Equipe TI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2026-08-19T12:31:41Z</dcterms:created>
  <dcterms:modified xsi:type="dcterms:W3CDTF">2026-08-19T12:31:41Z</dcterms:modified>
</cp:coreProperties>
</file>
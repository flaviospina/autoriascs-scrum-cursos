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C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22960" y="1234440"/>
            <a:ext cx="969264" cy="969264"/>
          </a:xfrm>
          <a:prstGeom prst="roundRect">
            <a:avLst>
              <a:gd name="adj" fmla="val 15094"/>
            </a:avLst>
          </a:prstGeom>
          <a:solidFill>
            <a:srgbClr val="22D3EE"/>
          </a:solidFill>
          <a:ln/>
        </p:spPr>
      </p:sp>
      <p:sp>
        <p:nvSpPr>
          <p:cNvPr id="3" name="Text 1"/>
          <p:cNvSpPr/>
          <p:nvPr/>
        </p:nvSpPr>
        <p:spPr>
          <a:xfrm>
            <a:off x="822960" y="1234440"/>
            <a:ext cx="969264" cy="9692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0710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841248" y="2606040"/>
            <a:ext cx="10058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AUTORIASCS • GESTÃO DE CURSOS • CECAPE SÃO CAETANO DO SUL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786384" y="2926080"/>
            <a:ext cx="106070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E8E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Tutorial do Formador</a:t>
            </a:r>
            <a:endParaRPr lang="en-US" sz="4800" dirty="0"/>
          </a:p>
        </p:txBody>
      </p:sp>
      <p:sp>
        <p:nvSpPr>
          <p:cNvPr id="6" name="Text 4"/>
          <p:cNvSpPr/>
          <p:nvPr/>
        </p:nvSpPr>
        <p:spPr>
          <a:xfrm>
            <a:off x="822960" y="4206240"/>
            <a:ext cx="95097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700" dirty="0">
                <a:solidFill>
                  <a:srgbClr val="8BAA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Guia completo, passo a passo, para propor cursos, enviar os materiais na ordem certa</a:t>
            </a:r>
            <a:endParaRPr lang="en-US" sz="17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700" dirty="0">
                <a:solidFill>
                  <a:srgbClr val="8BAA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 analisar os vídeos produzidos pela MB Estúdios.</a:t>
            </a:r>
            <a:endParaRPr lang="en-US" sz="1700" dirty="0"/>
          </a:p>
        </p:txBody>
      </p:sp>
      <p:sp>
        <p:nvSpPr>
          <p:cNvPr id="7" name="Shape 5"/>
          <p:cNvSpPr/>
          <p:nvPr/>
        </p:nvSpPr>
        <p:spPr>
          <a:xfrm>
            <a:off x="822960" y="5349240"/>
            <a:ext cx="4480560" cy="457200"/>
          </a:xfrm>
          <a:prstGeom prst="roundRect">
            <a:avLst>
              <a:gd name="adj" fmla="val 50000"/>
            </a:avLst>
          </a:prstGeom>
          <a:solidFill>
            <a:srgbClr val="10233F"/>
          </a:solidFill>
          <a:ln w="12700">
            <a:solidFill>
              <a:srgbClr val="1D3A5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22960" y="5349240"/>
            <a:ext cx="4480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BAA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Perfil: </a:t>
            </a:r>
            <a:pPr algn="ctr" indent="0" marL="0">
              <a:buNone/>
            </a:pPr>
            <a:r>
              <a:rPr lang="en-US" sz="14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Professor(a) / Formador(a)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822960" y="6291072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BAA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cecapescs.com.br/autoriascs/scrum  •  ti.cecape@scseduca.com.br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16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CONTEÚDO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1109167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E8E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que você vai aprender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783080"/>
            <a:ext cx="384048" cy="384048"/>
          </a:xfrm>
          <a:prstGeom prst="ellipse">
            <a:avLst/>
          </a:prstGeom>
          <a:solidFill>
            <a:srgbClr val="10233F"/>
          </a:solidFill>
          <a:ln w="17780">
            <a:solidFill>
              <a:srgbClr val="22D3E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17830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1207008" y="1746504"/>
            <a:ext cx="482803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50" b="1" dirty="0">
                <a:solidFill>
                  <a:srgbClr val="E8E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Entrar no sistema</a:t>
            </a:r>
            <a:endParaRPr lang="en-US" sz="1550" dirty="0"/>
          </a:p>
        </p:txBody>
      </p:sp>
      <p:sp>
        <p:nvSpPr>
          <p:cNvPr id="7" name="Shape 5"/>
          <p:cNvSpPr/>
          <p:nvPr/>
        </p:nvSpPr>
        <p:spPr>
          <a:xfrm>
            <a:off x="640080" y="2862072"/>
            <a:ext cx="384048" cy="384048"/>
          </a:xfrm>
          <a:prstGeom prst="ellipse">
            <a:avLst/>
          </a:prstGeom>
          <a:solidFill>
            <a:srgbClr val="10233F"/>
          </a:solidFill>
          <a:ln w="17780">
            <a:solidFill>
              <a:srgbClr val="22D3E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0080" y="286207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207008" y="2825496"/>
            <a:ext cx="482803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50" b="1" dirty="0">
                <a:solidFill>
                  <a:srgbClr val="E8E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Conhecer a tela principal</a:t>
            </a:r>
            <a:endParaRPr lang="en-US" sz="1550" dirty="0"/>
          </a:p>
        </p:txBody>
      </p:sp>
      <p:sp>
        <p:nvSpPr>
          <p:cNvPr id="10" name="Shape 8"/>
          <p:cNvSpPr/>
          <p:nvPr/>
        </p:nvSpPr>
        <p:spPr>
          <a:xfrm>
            <a:off x="640080" y="3941064"/>
            <a:ext cx="384048" cy="384048"/>
          </a:xfrm>
          <a:prstGeom prst="ellipse">
            <a:avLst/>
          </a:prstGeom>
          <a:solidFill>
            <a:srgbClr val="10233F"/>
          </a:solidFill>
          <a:ln w="17780">
            <a:solidFill>
              <a:srgbClr val="22D3E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40080" y="394106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1207008" y="3904488"/>
            <a:ext cx="482803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50" b="1" dirty="0">
                <a:solidFill>
                  <a:srgbClr val="E8E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Propor um curso novo</a:t>
            </a:r>
            <a:endParaRPr lang="en-US" sz="1550" dirty="0"/>
          </a:p>
        </p:txBody>
      </p:sp>
      <p:sp>
        <p:nvSpPr>
          <p:cNvPr id="13" name="Shape 11"/>
          <p:cNvSpPr/>
          <p:nvPr/>
        </p:nvSpPr>
        <p:spPr>
          <a:xfrm>
            <a:off x="640080" y="5020056"/>
            <a:ext cx="384048" cy="384048"/>
          </a:xfrm>
          <a:prstGeom prst="ellipse">
            <a:avLst/>
          </a:prstGeom>
          <a:solidFill>
            <a:srgbClr val="10233F"/>
          </a:solidFill>
          <a:ln w="17780">
            <a:solidFill>
              <a:srgbClr val="22D3EE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40080" y="502005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1207008" y="4983480"/>
            <a:ext cx="482803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50" b="1" dirty="0">
                <a:solidFill>
                  <a:srgbClr val="E8E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aprovação do projeto pela TI</a:t>
            </a:r>
            <a:endParaRPr lang="en-US" sz="1550" dirty="0"/>
          </a:p>
        </p:txBody>
      </p:sp>
      <p:sp>
        <p:nvSpPr>
          <p:cNvPr id="16" name="Shape 14"/>
          <p:cNvSpPr/>
          <p:nvPr/>
        </p:nvSpPr>
        <p:spPr>
          <a:xfrm>
            <a:off x="6492240" y="1783080"/>
            <a:ext cx="384048" cy="384048"/>
          </a:xfrm>
          <a:prstGeom prst="ellipse">
            <a:avLst/>
          </a:prstGeom>
          <a:solidFill>
            <a:srgbClr val="10233F"/>
          </a:solidFill>
          <a:ln w="17780">
            <a:solidFill>
              <a:srgbClr val="22D3EE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492240" y="17830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7059168" y="1746504"/>
            <a:ext cx="482803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50" b="1" dirty="0">
                <a:solidFill>
                  <a:srgbClr val="E8E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Mover o curso de fase</a:t>
            </a:r>
            <a:endParaRPr lang="en-US" sz="1550" dirty="0"/>
          </a:p>
        </p:txBody>
      </p:sp>
      <p:sp>
        <p:nvSpPr>
          <p:cNvPr id="19" name="Shape 17"/>
          <p:cNvSpPr/>
          <p:nvPr/>
        </p:nvSpPr>
        <p:spPr>
          <a:xfrm>
            <a:off x="6492240" y="2862072"/>
            <a:ext cx="384048" cy="384048"/>
          </a:xfrm>
          <a:prstGeom prst="ellipse">
            <a:avLst/>
          </a:prstGeom>
          <a:solidFill>
            <a:srgbClr val="10233F"/>
          </a:solidFill>
          <a:ln w="17780">
            <a:solidFill>
              <a:srgbClr val="22D3EE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492240" y="286207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7059168" y="2825496"/>
            <a:ext cx="482803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50" b="1" dirty="0">
                <a:solidFill>
                  <a:srgbClr val="E8E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Enviar os materiais na ordem</a:t>
            </a:r>
            <a:endParaRPr lang="en-US" sz="1550" dirty="0"/>
          </a:p>
        </p:txBody>
      </p:sp>
      <p:sp>
        <p:nvSpPr>
          <p:cNvPr id="22" name="Shape 20"/>
          <p:cNvSpPr/>
          <p:nvPr/>
        </p:nvSpPr>
        <p:spPr>
          <a:xfrm>
            <a:off x="6492240" y="3941064"/>
            <a:ext cx="384048" cy="384048"/>
          </a:xfrm>
          <a:prstGeom prst="ellipse">
            <a:avLst/>
          </a:prstGeom>
          <a:solidFill>
            <a:srgbClr val="10233F"/>
          </a:solidFill>
          <a:ln w="17780">
            <a:solidFill>
              <a:srgbClr val="22D3EE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492240" y="394106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7059168" y="3904488"/>
            <a:ext cx="482803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50" b="1" dirty="0">
                <a:solidFill>
                  <a:srgbClr val="E8E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Materiais opcionais e arquivos grandes</a:t>
            </a:r>
            <a:endParaRPr lang="en-US" sz="1550" dirty="0"/>
          </a:p>
        </p:txBody>
      </p:sp>
      <p:sp>
        <p:nvSpPr>
          <p:cNvPr id="25" name="Shape 23"/>
          <p:cNvSpPr/>
          <p:nvPr/>
        </p:nvSpPr>
        <p:spPr>
          <a:xfrm>
            <a:off x="6492240" y="5020056"/>
            <a:ext cx="384048" cy="384048"/>
          </a:xfrm>
          <a:prstGeom prst="ellipse">
            <a:avLst/>
          </a:prstGeom>
          <a:solidFill>
            <a:srgbClr val="10233F"/>
          </a:solidFill>
          <a:ln w="17780">
            <a:solidFill>
              <a:srgbClr val="22D3EE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492240" y="502005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7059168" y="4983480"/>
            <a:ext cx="482803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50" b="1" dirty="0">
                <a:solidFill>
                  <a:srgbClr val="E8E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Analisar os vídeos da MB</a:t>
            </a:r>
            <a:endParaRPr lang="en-US" sz="1550" dirty="0"/>
          </a:p>
        </p:txBody>
      </p:sp>
      <p:sp>
        <p:nvSpPr>
          <p:cNvPr id="28" name="Text 26"/>
          <p:cNvSpPr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BAA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AutoriaSCS • Gestão de Cursos  —  Tutorial do Formador</a:t>
            </a:r>
            <a:endParaRPr lang="en-US" sz="950" dirty="0"/>
          </a:p>
        </p:txBody>
      </p:sp>
      <p:sp>
        <p:nvSpPr>
          <p:cNvPr id="29" name="Text 27"/>
          <p:cNvSpPr/>
          <p:nvPr/>
        </p:nvSpPr>
        <p:spPr>
          <a:xfrm>
            <a:off x="10725912" y="647395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8BAA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14</a:t>
            </a:r>
            <a:endParaRPr lang="en-US" sz="9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16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PASSO A PASSO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1109167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E8E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Entrar no sistema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737360"/>
            <a:ext cx="310896" cy="310896"/>
          </a:xfrm>
          <a:prstGeom prst="ellipse">
            <a:avLst/>
          </a:prstGeom>
          <a:solidFill>
            <a:srgbClr val="22D3EE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73736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710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1097280" y="1691640"/>
            <a:ext cx="52120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E8E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Abra o navegador (Chrome, Edge ou Firefox);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640080" y="2450592"/>
            <a:ext cx="310896" cy="310896"/>
          </a:xfrm>
          <a:prstGeom prst="ellipse">
            <a:avLst/>
          </a:prstGeom>
          <a:solidFill>
            <a:srgbClr val="22D3EE"/>
          </a:solidFill>
          <a:ln/>
        </p:spPr>
      </p:sp>
      <p:sp>
        <p:nvSpPr>
          <p:cNvPr id="8" name="Text 6"/>
          <p:cNvSpPr/>
          <p:nvPr/>
        </p:nvSpPr>
        <p:spPr>
          <a:xfrm>
            <a:off x="640080" y="245059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710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097280" y="2404872"/>
            <a:ext cx="52120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E8E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Digite </a:t>
            </a:r>
            <a:pPr indent="0" marL="0">
              <a:buNone/>
            </a:pPr>
            <a:r>
              <a:rPr lang="en-US" sz="14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cecapescs.com.br/autoriascs/scrum</a:t>
            </a:r>
            <a:pPr indent="0" marL="0">
              <a:buNone/>
            </a:pPr>
            <a:r>
              <a:rPr lang="en-US" sz="1400" dirty="0">
                <a:solidFill>
                  <a:srgbClr val="E8E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e aperte Enter;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640080" y="3163824"/>
            <a:ext cx="310896" cy="310896"/>
          </a:xfrm>
          <a:prstGeom prst="ellipse">
            <a:avLst/>
          </a:prstGeom>
          <a:solidFill>
            <a:srgbClr val="22D3EE"/>
          </a:solidFill>
          <a:ln/>
        </p:spPr>
      </p:sp>
      <p:sp>
        <p:nvSpPr>
          <p:cNvPr id="11" name="Text 9"/>
          <p:cNvSpPr/>
          <p:nvPr/>
        </p:nvSpPr>
        <p:spPr>
          <a:xfrm>
            <a:off x="640080" y="316382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710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1097280" y="3118104"/>
            <a:ext cx="52120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E8E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Preencha </a:t>
            </a:r>
            <a:pPr indent="0" marL="0">
              <a:buNone/>
            </a:pPr>
            <a:r>
              <a:rPr lang="en-US" sz="1400" b="1" dirty="0">
                <a:solidFill>
                  <a:srgbClr val="E8E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E-mail</a:t>
            </a:r>
            <a:pPr indent="0" marL="0">
              <a:buNone/>
            </a:pPr>
            <a:r>
              <a:rPr lang="en-US" sz="1400" dirty="0">
                <a:solidFill>
                  <a:srgbClr val="E8E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e </a:t>
            </a:r>
            <a:pPr indent="0" marL="0">
              <a:buNone/>
            </a:pPr>
            <a:r>
              <a:rPr lang="en-US" sz="1400" b="1" dirty="0">
                <a:solidFill>
                  <a:srgbClr val="E8E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Senha</a:t>
            </a:r>
            <a:pPr indent="0" marL="0">
              <a:buNone/>
            </a:pPr>
            <a:r>
              <a:rPr lang="en-US" sz="1400" dirty="0">
                <a:solidFill>
                  <a:srgbClr val="E8E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(entregues pela TI);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640080" y="3877056"/>
            <a:ext cx="310896" cy="310896"/>
          </a:xfrm>
          <a:prstGeom prst="ellipse">
            <a:avLst/>
          </a:prstGeom>
          <a:solidFill>
            <a:srgbClr val="22D3EE"/>
          </a:solidFill>
          <a:ln/>
        </p:spPr>
      </p:sp>
      <p:sp>
        <p:nvSpPr>
          <p:cNvPr id="14" name="Text 12"/>
          <p:cNvSpPr/>
          <p:nvPr/>
        </p:nvSpPr>
        <p:spPr>
          <a:xfrm>
            <a:off x="640080" y="387705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710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1097280" y="3831336"/>
            <a:ext cx="52120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E8E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Clique no botão </a:t>
            </a:r>
            <a:pPr indent="0" marL="0">
              <a:buNone/>
            </a:pPr>
            <a:r>
              <a:rPr lang="en-US" sz="14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Entrar</a:t>
            </a:r>
            <a:pPr indent="0" marL="0">
              <a:buNone/>
            </a:pPr>
            <a:r>
              <a:rPr lang="en-US" sz="1400" dirty="0">
                <a:solidFill>
                  <a:srgbClr val="E8E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640080" y="4754880"/>
            <a:ext cx="5669280" cy="1371600"/>
          </a:xfrm>
          <a:prstGeom prst="roundRect">
            <a:avLst>
              <a:gd name="adj" fmla="val 6000"/>
            </a:avLst>
          </a:prstGeom>
          <a:solidFill>
            <a:srgbClr val="10233F"/>
          </a:solidFill>
          <a:ln w="12700">
            <a:solidFill>
              <a:srgbClr val="1D3A5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41248" y="4901184"/>
            <a:ext cx="526694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BB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der errado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841248" y="5230368"/>
            <a:ext cx="5266944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E8E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mensagem "E-mail ou senha inválidos" aparece. Confira o que digitou (o sistema diferencia maiúsculas de minúsculas). Esqueceu a senha? Escreva para ti.cecape@scseduca.com.br.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7781158" y="1234440"/>
            <a:ext cx="2817124" cy="5029200"/>
          </a:xfrm>
          <a:prstGeom prst="roundRect">
            <a:avLst>
              <a:gd name="adj" fmla="val 2921"/>
            </a:avLst>
          </a:prstGeom>
          <a:solidFill>
            <a:srgbClr val="10233F"/>
          </a:solidFill>
          <a:ln w="12700">
            <a:solidFill>
              <a:srgbClr val="1D3A5F"/>
            </a:solidFill>
            <a:prstDash val="solid"/>
          </a:ln>
        </p:spPr>
      </p:sp>
      <p:pic>
        <p:nvPicPr>
          <p:cNvPr id="20" name="Image 0" descr="/home/user/AutoriaSCS-Scrum-cursos/docs/tutoriais/img/logi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890886" y="1344168"/>
            <a:ext cx="2597668" cy="4809744"/>
          </a:xfrm>
          <a:prstGeom prst="rect">
            <a:avLst/>
          </a:prstGeom>
        </p:spPr>
      </p:pic>
      <p:sp>
        <p:nvSpPr>
          <p:cNvPr id="21" name="Text 18"/>
          <p:cNvSpPr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BAA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AutoriaSCS • Gestão de Cursos  —  Tutorial do Formador</a:t>
            </a:r>
            <a:endParaRPr lang="en-US" sz="950" dirty="0"/>
          </a:p>
        </p:txBody>
      </p:sp>
      <p:sp>
        <p:nvSpPr>
          <p:cNvPr id="22" name="Text 19"/>
          <p:cNvSpPr/>
          <p:nvPr/>
        </p:nvSpPr>
        <p:spPr>
          <a:xfrm>
            <a:off x="10725912" y="647395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8BAA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14</a:t>
            </a:r>
            <a:endParaRPr lang="en-US" sz="9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16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PASSO A PASSO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1109167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E8E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A tela principal (Dashboard)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371600"/>
            <a:ext cx="10972800" cy="849535"/>
          </a:xfrm>
          <a:prstGeom prst="roundRect">
            <a:avLst>
              <a:gd name="adj" fmla="val 9687"/>
            </a:avLst>
          </a:prstGeom>
          <a:solidFill>
            <a:srgbClr val="10233F"/>
          </a:solidFill>
          <a:ln w="12700">
            <a:solidFill>
              <a:srgbClr val="1D3A5F"/>
            </a:solidFill>
            <a:prstDash val="solid"/>
          </a:ln>
        </p:spPr>
      </p:sp>
      <p:pic>
        <p:nvPicPr>
          <p:cNvPr id="5" name="Image 0" descr="/home/user/AutoriaSCS-Scrum-cursos/docs/tutoriais/img/navbar-professo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9808" y="1481328"/>
            <a:ext cx="10753344" cy="630079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685800" y="2542032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</a:t>
            </a:r>
            <a:pPr indent="0" marL="0">
              <a:buNone/>
            </a:pPr>
            <a:r>
              <a:rPr lang="en-US" sz="1300" dirty="0">
                <a:solidFill>
                  <a:srgbClr val="8BAA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sua página inicial   •   </a:t>
            </a:r>
            <a:pPr indent="0" marL="0">
              <a:buNone/>
            </a:pPr>
            <a:r>
              <a:rPr lang="en-US" sz="13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Modelos </a:t>
            </a:r>
            <a:pPr indent="0" marL="0">
              <a:buNone/>
            </a:pPr>
            <a:r>
              <a:rPr lang="en-US" sz="1300" dirty="0">
                <a:solidFill>
                  <a:srgbClr val="8BAA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templates para baixar   •   </a:t>
            </a:r>
            <a:pPr indent="0" marL="0">
              <a:buNone/>
            </a:pPr>
            <a:r>
              <a:rPr lang="en-US" sz="13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👤 Seu nome </a:t>
            </a:r>
            <a:pPr indent="0" marL="0">
              <a:buNone/>
            </a:pPr>
            <a:r>
              <a:rPr lang="en-US" sz="1300" dirty="0">
                <a:solidFill>
                  <a:srgbClr val="8BAA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senha e e-mails   •   </a:t>
            </a:r>
            <a:pPr indent="0" marL="0">
              <a:buNone/>
            </a:pPr>
            <a:r>
              <a:rPr lang="en-US" sz="13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Sair </a:t>
            </a:r>
            <a:pPr indent="0" marL="0">
              <a:buNone/>
            </a:pPr>
            <a:r>
              <a:rPr lang="en-US" sz="1300" dirty="0">
                <a:solidFill>
                  <a:srgbClr val="8BAA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encerra o acesso</a:t>
            </a:r>
            <a:endParaRPr lang="en-US" sz="1300" dirty="0"/>
          </a:p>
        </p:txBody>
      </p:sp>
      <p:sp>
        <p:nvSpPr>
          <p:cNvPr id="7" name="Shape 4"/>
          <p:cNvSpPr/>
          <p:nvPr/>
        </p:nvSpPr>
        <p:spPr>
          <a:xfrm>
            <a:off x="640080" y="3063240"/>
            <a:ext cx="7498080" cy="2699341"/>
          </a:xfrm>
          <a:prstGeom prst="roundRect">
            <a:avLst>
              <a:gd name="adj" fmla="val 3049"/>
            </a:avLst>
          </a:prstGeom>
          <a:solidFill>
            <a:srgbClr val="10233F"/>
          </a:solidFill>
          <a:ln w="12700">
            <a:solidFill>
              <a:srgbClr val="1D3A5F"/>
            </a:solidFill>
            <a:prstDash val="solid"/>
          </a:ln>
        </p:spPr>
      </p:sp>
      <p:pic>
        <p:nvPicPr>
          <p:cNvPr id="8" name="Image 1" descr="/home/user/AutoriaSCS-Scrum-cursos/docs/tutoriais/img/professor-lista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9808" y="3172968"/>
            <a:ext cx="7278624" cy="2479885"/>
          </a:xfrm>
          <a:prstGeom prst="rect">
            <a:avLst/>
          </a:prstGeom>
        </p:spPr>
      </p:pic>
      <p:sp>
        <p:nvSpPr>
          <p:cNvPr id="9" name="Shape 5"/>
          <p:cNvSpPr/>
          <p:nvPr/>
        </p:nvSpPr>
        <p:spPr>
          <a:xfrm>
            <a:off x="8321040" y="3063240"/>
            <a:ext cx="3291840" cy="2331720"/>
          </a:xfrm>
          <a:prstGeom prst="roundRect">
            <a:avLst>
              <a:gd name="adj" fmla="val 3529"/>
            </a:avLst>
          </a:prstGeom>
          <a:solidFill>
            <a:srgbClr val="10233F"/>
          </a:solidFill>
          <a:ln w="12700">
            <a:solidFill>
              <a:srgbClr val="1D3A5F"/>
            </a:solidFill>
            <a:prstDash val="solid"/>
          </a:ln>
        </p:spPr>
      </p:sp>
      <p:sp>
        <p:nvSpPr>
          <p:cNvPr id="10" name="Text 6"/>
          <p:cNvSpPr/>
          <p:nvPr/>
        </p:nvSpPr>
        <p:spPr>
          <a:xfrm>
            <a:off x="8522208" y="3209544"/>
            <a:ext cx="288950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Você só vê os seus cursos</a:t>
            </a:r>
            <a:endParaRPr lang="en-US" sz="1400" dirty="0"/>
          </a:p>
        </p:txBody>
      </p:sp>
      <p:sp>
        <p:nvSpPr>
          <p:cNvPr id="11" name="Text 7"/>
          <p:cNvSpPr/>
          <p:nvPr/>
        </p:nvSpPr>
        <p:spPr>
          <a:xfrm>
            <a:off x="8522208" y="3538728"/>
            <a:ext cx="2889504" cy="1728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E8E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lista mostra nome, fase atual (status), prioridade e prazos de cada curso seu.</a:t>
            </a:r>
            <a:endParaRPr lang="en-US" sz="1300" dirty="0"/>
          </a:p>
          <a:p>
            <a:pPr indent="0" marL="0">
              <a:lnSpc>
                <a:spcPct val="112000"/>
              </a:lnSpc>
              <a:buNone/>
            </a:pPr>
            <a:endParaRPr lang="en-US" sz="13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E8E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botão Abrir leva à página completa do curso.</a:t>
            </a:r>
            <a:endParaRPr lang="en-US" sz="1300" dirty="0"/>
          </a:p>
        </p:txBody>
      </p:sp>
      <p:sp>
        <p:nvSpPr>
          <p:cNvPr id="12" name="Text 8"/>
          <p:cNvSpPr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BAA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AutoriaSCS • Gestão de Cursos  —  Tutorial do Formador</a:t>
            </a:r>
            <a:endParaRPr lang="en-US" sz="950" dirty="0"/>
          </a:p>
        </p:txBody>
      </p:sp>
      <p:sp>
        <p:nvSpPr>
          <p:cNvPr id="13" name="Text 9"/>
          <p:cNvSpPr/>
          <p:nvPr/>
        </p:nvSpPr>
        <p:spPr>
          <a:xfrm>
            <a:off x="10725912" y="647395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8BAA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14</a:t>
            </a:r>
            <a:endParaRPr lang="en-US" sz="9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16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PASSO A PASSO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1109167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E8E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Propor um curso novo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737360"/>
            <a:ext cx="310896" cy="310896"/>
          </a:xfrm>
          <a:prstGeom prst="ellipse">
            <a:avLst/>
          </a:prstGeom>
          <a:solidFill>
            <a:srgbClr val="22D3EE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73736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710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1097280" y="1691640"/>
            <a:ext cx="46634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E8E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Dashboard, clique no botão verde </a:t>
            </a:r>
            <a:pPr indent="0" marL="0">
              <a:buNone/>
            </a:pPr>
            <a:r>
              <a:rPr lang="en-US" sz="140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Propor Novo Curso</a:t>
            </a:r>
            <a:pPr indent="0" marL="0">
              <a:buNone/>
            </a:pPr>
            <a:r>
              <a:rPr lang="en-US" sz="1400" dirty="0">
                <a:solidFill>
                  <a:srgbClr val="E8E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;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640080" y="2468880"/>
            <a:ext cx="310896" cy="310896"/>
          </a:xfrm>
          <a:prstGeom prst="ellipse">
            <a:avLst/>
          </a:prstGeom>
          <a:solidFill>
            <a:srgbClr val="22D3EE"/>
          </a:solidFill>
          <a:ln/>
        </p:spPr>
      </p:sp>
      <p:sp>
        <p:nvSpPr>
          <p:cNvPr id="8" name="Text 6"/>
          <p:cNvSpPr/>
          <p:nvPr/>
        </p:nvSpPr>
        <p:spPr>
          <a:xfrm>
            <a:off x="640080" y="246888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710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097280" y="2423160"/>
            <a:ext cx="46634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E8E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Preencha o formulário (campos no próximo slide);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640080" y="3200400"/>
            <a:ext cx="310896" cy="310896"/>
          </a:xfrm>
          <a:prstGeom prst="ellipse">
            <a:avLst/>
          </a:prstGeom>
          <a:solidFill>
            <a:srgbClr val="22D3EE"/>
          </a:solidFill>
          <a:ln/>
        </p:spPr>
      </p:sp>
      <p:sp>
        <p:nvSpPr>
          <p:cNvPr id="11" name="Text 9"/>
          <p:cNvSpPr/>
          <p:nvPr/>
        </p:nvSpPr>
        <p:spPr>
          <a:xfrm>
            <a:off x="640080" y="320040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710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1097280" y="3154680"/>
            <a:ext cx="46634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E8E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Clique em </a:t>
            </a:r>
            <a:pPr indent="0" marL="0">
              <a:buNone/>
            </a:pPr>
            <a:r>
              <a:rPr lang="en-US" sz="140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Salvar</a:t>
            </a:r>
            <a:pPr indent="0" marL="0">
              <a:buNone/>
            </a:pPr>
            <a:r>
              <a:rPr lang="en-US" sz="1400" dirty="0">
                <a:solidFill>
                  <a:srgbClr val="E8E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e confirme na janelinha.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640080" y="4114800"/>
            <a:ext cx="5120640" cy="1920240"/>
          </a:xfrm>
          <a:prstGeom prst="roundRect">
            <a:avLst>
              <a:gd name="adj" fmla="val 4286"/>
            </a:avLst>
          </a:prstGeom>
          <a:solidFill>
            <a:srgbClr val="10233F"/>
          </a:solidFill>
          <a:ln w="12700">
            <a:solidFill>
              <a:srgbClr val="1D3A5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41248" y="4261104"/>
            <a:ext cx="471830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que acontece depois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841248" y="4590288"/>
            <a:ext cx="4718304" cy="13167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E8E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curso é criado na fase "Curso Proposto" e a equipe do CECAPE recebe um e-mail.</a:t>
            </a:r>
            <a:endParaRPr lang="en-US" sz="1300" dirty="0"/>
          </a:p>
          <a:p>
            <a:pPr indent="0" marL="0">
              <a:lnSpc>
                <a:spcPct val="112000"/>
              </a:lnSpc>
              <a:buNone/>
            </a:pPr>
            <a:endParaRPr lang="en-US" sz="13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E8E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TI analisa o projeto e define a carga horária oficial — veja o próximo slide.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6035040" y="1600200"/>
            <a:ext cx="2560320" cy="784492"/>
          </a:xfrm>
          <a:prstGeom prst="roundRect">
            <a:avLst>
              <a:gd name="adj" fmla="val 10490"/>
            </a:avLst>
          </a:prstGeom>
          <a:solidFill>
            <a:srgbClr val="10233F"/>
          </a:solidFill>
          <a:ln w="12700">
            <a:solidFill>
              <a:srgbClr val="1D3A5F"/>
            </a:solidFill>
            <a:prstDash val="solid"/>
          </a:ln>
        </p:spPr>
      </p:sp>
      <p:pic>
        <p:nvPicPr>
          <p:cNvPr id="17" name="Image 0" descr="/home/user/AutoriaSCS-Scrum-cursos/docs/tutoriais/img/botao-propo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144768" y="1709928"/>
            <a:ext cx="2340864" cy="565036"/>
          </a:xfrm>
          <a:prstGeom prst="rect">
            <a:avLst/>
          </a:prstGeom>
        </p:spPr>
      </p:pic>
      <p:sp>
        <p:nvSpPr>
          <p:cNvPr id="18" name="Shape 15"/>
          <p:cNvSpPr/>
          <p:nvPr/>
        </p:nvSpPr>
        <p:spPr>
          <a:xfrm>
            <a:off x="6035040" y="2651760"/>
            <a:ext cx="5577840" cy="2597776"/>
          </a:xfrm>
          <a:prstGeom prst="roundRect">
            <a:avLst>
              <a:gd name="adj" fmla="val 3168"/>
            </a:avLst>
          </a:prstGeom>
          <a:solidFill>
            <a:srgbClr val="10233F"/>
          </a:solidFill>
          <a:ln w="12700">
            <a:solidFill>
              <a:srgbClr val="1D3A5F"/>
            </a:solidFill>
            <a:prstDash val="solid"/>
          </a:ln>
        </p:spPr>
      </p:sp>
      <p:pic>
        <p:nvPicPr>
          <p:cNvPr id="19" name="Image 1" descr="/home/user/AutoriaSCS-Scrum-cursos/docs/tutoriais/img/form-proposta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44768" y="2761488"/>
            <a:ext cx="5358384" cy="2378320"/>
          </a:xfrm>
          <a:prstGeom prst="rect">
            <a:avLst/>
          </a:prstGeom>
        </p:spPr>
      </p:pic>
      <p:sp>
        <p:nvSpPr>
          <p:cNvPr id="20" name="Text 16"/>
          <p:cNvSpPr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BAA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AutoriaSCS • Gestão de Cursos  —  Tutorial do Formador</a:t>
            </a:r>
            <a:endParaRPr lang="en-US" sz="950" dirty="0"/>
          </a:p>
        </p:txBody>
      </p:sp>
      <p:sp>
        <p:nvSpPr>
          <p:cNvPr id="21" name="Text 17"/>
          <p:cNvSpPr/>
          <p:nvPr/>
        </p:nvSpPr>
        <p:spPr>
          <a:xfrm>
            <a:off x="10725912" y="647395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8BAA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14</a:t>
            </a:r>
            <a:endParaRPr lang="en-US" sz="9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16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PASSO A PASSO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1109167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E8E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3.1 O formulário, campo por campo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508760"/>
            <a:ext cx="2834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Nome do curso *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3566160" y="1508760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8E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Objetivo e claro sobre o conteúdo (Guia 01, seção 2)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40080" y="2039112"/>
            <a:ext cx="10972800" cy="0"/>
          </a:xfrm>
          <a:prstGeom prst="line">
            <a:avLst/>
          </a:prstGeom>
          <a:noFill/>
          <a:ln w="9525">
            <a:solidFill>
              <a:srgbClr val="1D3A5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0080" y="2084832"/>
            <a:ext cx="2834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Carga horária sugerida *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3566160" y="2084832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8E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Apenas a sua sugestão — a oficial é definida pela TI ao aprovar o projeto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640080" y="2615184"/>
            <a:ext cx="10972800" cy="0"/>
          </a:xfrm>
          <a:prstGeom prst="line">
            <a:avLst/>
          </a:prstGeom>
          <a:noFill/>
          <a:ln w="9525">
            <a:solidFill>
              <a:srgbClr val="1D3A5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0080" y="2660904"/>
            <a:ext cx="2834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Público-alvo *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3566160" y="2660904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8E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 quem é o curso (ex.: "Professores dos Anos Iniciais")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640080" y="3191256"/>
            <a:ext cx="10972800" cy="0"/>
          </a:xfrm>
          <a:prstGeom prst="line">
            <a:avLst/>
          </a:prstGeom>
          <a:noFill/>
          <a:ln w="9525">
            <a:solidFill>
              <a:srgbClr val="1D3A5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40080" y="3236976"/>
            <a:ext cx="2834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Nível de ensino</a:t>
            </a:r>
            <a:endParaRPr lang="en-US" sz="1350" dirty="0"/>
          </a:p>
        </p:txBody>
      </p:sp>
      <p:sp>
        <p:nvSpPr>
          <p:cNvPr id="14" name="Text 12"/>
          <p:cNvSpPr/>
          <p:nvPr/>
        </p:nvSpPr>
        <p:spPr>
          <a:xfrm>
            <a:off x="3566160" y="3236976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8E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Escolha na lista (Educação Infantil, Fundamental...)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640080" y="3767328"/>
            <a:ext cx="10972800" cy="0"/>
          </a:xfrm>
          <a:prstGeom prst="line">
            <a:avLst/>
          </a:prstGeom>
          <a:noFill/>
          <a:ln w="9525">
            <a:solidFill>
              <a:srgbClr val="1D3A5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40080" y="3813048"/>
            <a:ext cx="2834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Unidade escolar</a:t>
            </a:r>
            <a:endParaRPr lang="en-US" sz="1350" dirty="0"/>
          </a:p>
        </p:txBody>
      </p:sp>
      <p:sp>
        <p:nvSpPr>
          <p:cNvPr id="17" name="Text 15"/>
          <p:cNvSpPr/>
          <p:nvPr/>
        </p:nvSpPr>
        <p:spPr>
          <a:xfrm>
            <a:off x="3566160" y="3813048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8E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Comece a digitar: a lista de escolas cadastradas aparece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640080" y="4343400"/>
            <a:ext cx="10972800" cy="0"/>
          </a:xfrm>
          <a:prstGeom prst="line">
            <a:avLst/>
          </a:prstGeom>
          <a:noFill/>
          <a:ln w="9525">
            <a:solidFill>
              <a:srgbClr val="1D3A5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40080" y="4389120"/>
            <a:ext cx="2834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Prioridade</a:t>
            </a:r>
            <a:endParaRPr lang="en-US" sz="1350" dirty="0"/>
          </a:p>
        </p:txBody>
      </p:sp>
      <p:sp>
        <p:nvSpPr>
          <p:cNvPr id="20" name="Text 18"/>
          <p:cNvSpPr/>
          <p:nvPr/>
        </p:nvSpPr>
        <p:spPr>
          <a:xfrm>
            <a:off x="3566160" y="4389120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8E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Baixa, Média, Alta ou Urgente — na dúvida, deixe Média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640080" y="4919472"/>
            <a:ext cx="10972800" cy="0"/>
          </a:xfrm>
          <a:prstGeom prst="line">
            <a:avLst/>
          </a:prstGeom>
          <a:noFill/>
          <a:ln w="9525">
            <a:solidFill>
              <a:srgbClr val="1D3A5F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40080" y="4965192"/>
            <a:ext cx="2834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 previstas</a:t>
            </a:r>
            <a:endParaRPr lang="en-US" sz="1350" dirty="0"/>
          </a:p>
        </p:txBody>
      </p:sp>
      <p:sp>
        <p:nvSpPr>
          <p:cNvPr id="23" name="Text 21"/>
          <p:cNvSpPr/>
          <p:nvPr/>
        </p:nvSpPr>
        <p:spPr>
          <a:xfrm>
            <a:off x="3566160" y="4965192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8E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Clique no campo e escolha no calendário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640080" y="5495544"/>
            <a:ext cx="10972800" cy="0"/>
          </a:xfrm>
          <a:prstGeom prst="line">
            <a:avLst/>
          </a:prstGeom>
          <a:noFill/>
          <a:ln w="9525">
            <a:solidFill>
              <a:srgbClr val="1D3A5F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40080" y="5541264"/>
            <a:ext cx="2834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Breve descrição</a:t>
            </a:r>
            <a:endParaRPr lang="en-US" sz="1350" dirty="0"/>
          </a:p>
        </p:txBody>
      </p:sp>
      <p:sp>
        <p:nvSpPr>
          <p:cNvPr id="26" name="Text 24"/>
          <p:cNvSpPr/>
          <p:nvPr/>
        </p:nvSpPr>
        <p:spPr>
          <a:xfrm>
            <a:off x="3566160" y="5541264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8E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Objetivo geral com verbo no infinitivo: "Capacitar...", "Desenvolver..."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640080" y="603504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8BAA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* campos obrigatórios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BAA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AutoriaSCS • Gestão de Cursos  —  Tutorial do Formador</a:t>
            </a:r>
            <a:endParaRPr lang="en-US" sz="950" dirty="0"/>
          </a:p>
        </p:txBody>
      </p:sp>
      <p:sp>
        <p:nvSpPr>
          <p:cNvPr id="29" name="Text 27"/>
          <p:cNvSpPr/>
          <p:nvPr/>
        </p:nvSpPr>
        <p:spPr>
          <a:xfrm>
            <a:off x="10725912" y="647395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8BAA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/ 14</a:t>
            </a:r>
            <a:endParaRPr lang="en-US" sz="9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16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NOVIDADE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1109167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E8E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A aprovação do projeto pela TI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554480"/>
            <a:ext cx="10972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450" dirty="0">
                <a:solidFill>
                  <a:srgbClr val="E8E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Depois de propor, o curso fica em "Curso Proposto" e você aguarda: a equipe de TI analisa o projeto e define a carga horária oficial, movendo o curso para "Projeto Aprovado". Só então você segue para o planejamento.</a:t>
            </a:r>
            <a:endParaRPr lang="en-US" sz="1450" dirty="0"/>
          </a:p>
        </p:txBody>
      </p:sp>
      <p:sp>
        <p:nvSpPr>
          <p:cNvPr id="5" name="Shape 3"/>
          <p:cNvSpPr/>
          <p:nvPr/>
        </p:nvSpPr>
        <p:spPr>
          <a:xfrm>
            <a:off x="640080" y="2377440"/>
            <a:ext cx="1382573" cy="402336"/>
          </a:xfrm>
          <a:prstGeom prst="roundRect">
            <a:avLst>
              <a:gd name="adj" fmla="val 50000"/>
            </a:avLst>
          </a:prstGeom>
          <a:solidFill>
            <a:srgbClr val="10233F"/>
          </a:solidFill>
          <a:ln w="15240">
            <a:solidFill>
              <a:srgbClr val="1D3A5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2377440"/>
            <a:ext cx="1382573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E8E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Curso Proposto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2059229" y="2377440"/>
            <a:ext cx="2743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2370125" y="2377440"/>
            <a:ext cx="1543507" cy="402336"/>
          </a:xfrm>
          <a:prstGeom prst="roundRect">
            <a:avLst>
              <a:gd name="adj" fmla="val 50000"/>
            </a:avLst>
          </a:prstGeom>
          <a:solidFill>
            <a:srgbClr val="10233F"/>
          </a:solidFill>
          <a:ln w="15240">
            <a:solidFill>
              <a:srgbClr val="1D3A5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370125" y="2377440"/>
            <a:ext cx="1543507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E8E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Projeto Aprovado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3950208" y="2377440"/>
            <a:ext cx="2743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4261104" y="2377440"/>
            <a:ext cx="1463040" cy="402336"/>
          </a:xfrm>
          <a:prstGeom prst="roundRect">
            <a:avLst>
              <a:gd name="adj" fmla="val 50000"/>
            </a:avLst>
          </a:prstGeom>
          <a:solidFill>
            <a:srgbClr val="10233F"/>
          </a:solidFill>
          <a:ln w="15240">
            <a:solidFill>
              <a:srgbClr val="1D3A5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261104" y="2377440"/>
            <a:ext cx="14630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E8E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 Planejamento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1259247" y="2971800"/>
            <a:ext cx="9734465" cy="1737360"/>
          </a:xfrm>
          <a:prstGeom prst="roundRect">
            <a:avLst>
              <a:gd name="adj" fmla="val 4737"/>
            </a:avLst>
          </a:prstGeom>
          <a:solidFill>
            <a:srgbClr val="10233F"/>
          </a:solidFill>
          <a:ln w="12700">
            <a:solidFill>
              <a:srgbClr val="1D3A5F"/>
            </a:solidFill>
            <a:prstDash val="solid"/>
          </a:ln>
        </p:spPr>
      </p:sp>
      <p:pic>
        <p:nvPicPr>
          <p:cNvPr id="14" name="Image 0" descr="/home/user/AutoriaSCS-Scrum-cursos/docs/tutoriais/img/curso-identificaca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68975" y="3081528"/>
            <a:ext cx="9515009" cy="1517904"/>
          </a:xfrm>
          <a:prstGeom prst="rect">
            <a:avLst/>
          </a:prstGeom>
        </p:spPr>
      </p:pic>
      <p:sp>
        <p:nvSpPr>
          <p:cNvPr id="15" name="Shape 12"/>
          <p:cNvSpPr/>
          <p:nvPr/>
        </p:nvSpPr>
        <p:spPr>
          <a:xfrm>
            <a:off x="640080" y="4892040"/>
            <a:ext cx="10972800" cy="1188720"/>
          </a:xfrm>
          <a:prstGeom prst="roundRect">
            <a:avLst>
              <a:gd name="adj" fmla="val 6923"/>
            </a:avLst>
          </a:prstGeom>
          <a:solidFill>
            <a:srgbClr val="10233F"/>
          </a:solidFill>
          <a:ln w="12700">
            <a:solidFill>
              <a:srgbClr val="1D3A5F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841248" y="5038344"/>
            <a:ext cx="1057046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identificação oficial do curso</a:t>
            </a:r>
            <a:endParaRPr lang="en-US" sz="1400" dirty="0"/>
          </a:p>
        </p:txBody>
      </p:sp>
      <p:sp>
        <p:nvSpPr>
          <p:cNvPr id="17" name="Text 14"/>
          <p:cNvSpPr/>
          <p:nvPr/>
        </p:nvSpPr>
        <p:spPr>
          <a:xfrm>
            <a:off x="841248" y="5367528"/>
            <a:ext cx="10570464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E8E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Ao aprovar, o sistema monta o nome oficial — Nome do curso - Formador(a) - Carga horária — e envia por e-mail à MB Estúdios e à TI. É esse o nome usado na pasta do curso e no pacote de materiais.</a:t>
            </a:r>
            <a:endParaRPr lang="en-US" sz="1300" dirty="0"/>
          </a:p>
        </p:txBody>
      </p:sp>
      <p:sp>
        <p:nvSpPr>
          <p:cNvPr id="18" name="Text 15"/>
          <p:cNvSpPr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BAA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AutoriaSCS • Gestão de Cursos  —  Tutorial do Formador</a:t>
            </a:r>
            <a:endParaRPr lang="en-US" sz="950" dirty="0"/>
          </a:p>
        </p:txBody>
      </p:sp>
      <p:sp>
        <p:nvSpPr>
          <p:cNvPr id="19" name="Text 16"/>
          <p:cNvSpPr/>
          <p:nvPr/>
        </p:nvSpPr>
        <p:spPr>
          <a:xfrm>
            <a:off x="10725912" y="647395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8BAA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/ 14</a:t>
            </a:r>
            <a:endParaRPr lang="en-US" sz="9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16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FLUXO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1109167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E8E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As suas fases, na ordem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57276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8E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Produção (o caminho normal)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640080" y="1938528"/>
            <a:ext cx="1543507" cy="402336"/>
          </a:xfrm>
          <a:prstGeom prst="roundRect">
            <a:avLst>
              <a:gd name="adj" fmla="val 50000"/>
            </a:avLst>
          </a:prstGeom>
          <a:solidFill>
            <a:srgbClr val="10233F"/>
          </a:solidFill>
          <a:ln w="15240">
            <a:solidFill>
              <a:srgbClr val="1D3A5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1938528"/>
            <a:ext cx="1543507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E8E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Projeto Aprovado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2220163" y="1938528"/>
            <a:ext cx="2743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2531059" y="1938528"/>
            <a:ext cx="1463040" cy="402336"/>
          </a:xfrm>
          <a:prstGeom prst="roundRect">
            <a:avLst>
              <a:gd name="adj" fmla="val 50000"/>
            </a:avLst>
          </a:prstGeom>
          <a:solidFill>
            <a:srgbClr val="10233F"/>
          </a:solidFill>
          <a:ln w="15240">
            <a:solidFill>
              <a:srgbClr val="1D3A5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531059" y="1938528"/>
            <a:ext cx="14630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E8E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 Planejamento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4030675" y="1938528"/>
            <a:ext cx="2743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4341571" y="1938528"/>
            <a:ext cx="1704442" cy="402336"/>
          </a:xfrm>
          <a:prstGeom prst="roundRect">
            <a:avLst>
              <a:gd name="adj" fmla="val 50000"/>
            </a:avLst>
          </a:prstGeom>
          <a:solidFill>
            <a:srgbClr val="10233F"/>
          </a:solidFill>
          <a:ln w="15240">
            <a:solidFill>
              <a:srgbClr val="1D3A5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341571" y="1938528"/>
            <a:ext cx="170444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E8E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 Desenvolvimento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6082589" y="1938528"/>
            <a:ext cx="2743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6393485" y="1938528"/>
            <a:ext cx="1784909" cy="402336"/>
          </a:xfrm>
          <a:prstGeom prst="roundRect">
            <a:avLst>
              <a:gd name="adj" fmla="val 50000"/>
            </a:avLst>
          </a:prstGeom>
          <a:solidFill>
            <a:srgbClr val="10233F"/>
          </a:solidFill>
          <a:ln w="15240">
            <a:solidFill>
              <a:srgbClr val="1D3A5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393485" y="1938528"/>
            <a:ext cx="1784909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E8E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Pronto para Análise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640080" y="2487168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BB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Antes de "Pronto para Análise": </a:t>
            </a:r>
            <a:pPr indent="0" marL="0">
              <a:buNone/>
            </a:pPr>
            <a:r>
              <a:rPr lang="en-US" sz="1250" dirty="0">
                <a:solidFill>
                  <a:srgbClr val="8BAA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envie todos os materiais (slides 9 e 10).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640080" y="31546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8E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a revisão pedir ajustes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640080" y="3520440"/>
            <a:ext cx="2670048" cy="402336"/>
          </a:xfrm>
          <a:prstGeom prst="roundRect">
            <a:avLst>
              <a:gd name="adj" fmla="val 50000"/>
            </a:avLst>
          </a:prstGeom>
          <a:solidFill>
            <a:srgbClr val="10233F"/>
          </a:solidFill>
          <a:ln w="15240">
            <a:solidFill>
              <a:srgbClr val="1D3A5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40080" y="3520440"/>
            <a:ext cx="267004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E8E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Recusado - Ajustes Necessários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3346704" y="3520440"/>
            <a:ext cx="2743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500" dirty="0"/>
          </a:p>
        </p:txBody>
      </p:sp>
      <p:sp>
        <p:nvSpPr>
          <p:cNvPr id="21" name="Shape 19"/>
          <p:cNvSpPr/>
          <p:nvPr/>
        </p:nvSpPr>
        <p:spPr>
          <a:xfrm>
            <a:off x="3657600" y="3520440"/>
            <a:ext cx="980237" cy="402336"/>
          </a:xfrm>
          <a:prstGeom prst="roundRect">
            <a:avLst>
              <a:gd name="adj" fmla="val 50000"/>
            </a:avLst>
          </a:prstGeom>
          <a:solidFill>
            <a:srgbClr val="10233F"/>
          </a:solidFill>
          <a:ln w="15240">
            <a:solidFill>
              <a:srgbClr val="1D3A5F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657600" y="3520440"/>
            <a:ext cx="980237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E8E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 Ajuste</a:t>
            </a:r>
            <a:endParaRPr lang="en-US" sz="1250" dirty="0"/>
          </a:p>
        </p:txBody>
      </p:sp>
      <p:sp>
        <p:nvSpPr>
          <p:cNvPr id="23" name="Text 21"/>
          <p:cNvSpPr/>
          <p:nvPr/>
        </p:nvSpPr>
        <p:spPr>
          <a:xfrm>
            <a:off x="4674413" y="3520440"/>
            <a:ext cx="2743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500" dirty="0"/>
          </a:p>
        </p:txBody>
      </p:sp>
      <p:sp>
        <p:nvSpPr>
          <p:cNvPr id="24" name="Shape 22"/>
          <p:cNvSpPr/>
          <p:nvPr/>
        </p:nvSpPr>
        <p:spPr>
          <a:xfrm>
            <a:off x="4985309" y="3520440"/>
            <a:ext cx="2187245" cy="402336"/>
          </a:xfrm>
          <a:prstGeom prst="roundRect">
            <a:avLst>
              <a:gd name="adj" fmla="val 50000"/>
            </a:avLst>
          </a:prstGeom>
          <a:solidFill>
            <a:srgbClr val="10233F"/>
          </a:solidFill>
          <a:ln w="15240">
            <a:solidFill>
              <a:srgbClr val="1D3A5F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985309" y="3520440"/>
            <a:ext cx="2187245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E8E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Pronto para Nova Análise</a:t>
            </a:r>
            <a:endParaRPr lang="en-US" sz="1250" dirty="0"/>
          </a:p>
        </p:txBody>
      </p:sp>
      <p:sp>
        <p:nvSpPr>
          <p:cNvPr id="26" name="Text 24"/>
          <p:cNvSpPr/>
          <p:nvPr/>
        </p:nvSpPr>
        <p:spPr>
          <a:xfrm>
            <a:off x="640080" y="452628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8E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 reta final (depois que a MB monta o curso na plataforma)</a:t>
            </a:r>
            <a:endParaRPr lang="en-US" sz="1400" dirty="0"/>
          </a:p>
        </p:txBody>
      </p:sp>
      <p:sp>
        <p:nvSpPr>
          <p:cNvPr id="27" name="Shape 25"/>
          <p:cNvSpPr/>
          <p:nvPr/>
        </p:nvSpPr>
        <p:spPr>
          <a:xfrm>
            <a:off x="640080" y="4892040"/>
            <a:ext cx="899770" cy="402336"/>
          </a:xfrm>
          <a:prstGeom prst="roundRect">
            <a:avLst>
              <a:gd name="adj" fmla="val 50000"/>
            </a:avLst>
          </a:prstGeom>
          <a:solidFill>
            <a:srgbClr val="10233F"/>
          </a:solidFill>
          <a:ln w="15240">
            <a:solidFill>
              <a:srgbClr val="1D3A5F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40080" y="4892040"/>
            <a:ext cx="89977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E8E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Inserido</a:t>
            </a:r>
            <a:endParaRPr lang="en-US" sz="1250" dirty="0"/>
          </a:p>
        </p:txBody>
      </p:sp>
      <p:sp>
        <p:nvSpPr>
          <p:cNvPr id="29" name="Text 27"/>
          <p:cNvSpPr/>
          <p:nvPr/>
        </p:nvSpPr>
        <p:spPr>
          <a:xfrm>
            <a:off x="1576426" y="4892040"/>
            <a:ext cx="2743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500" dirty="0"/>
          </a:p>
        </p:txBody>
      </p:sp>
      <p:sp>
        <p:nvSpPr>
          <p:cNvPr id="30" name="Shape 28"/>
          <p:cNvSpPr/>
          <p:nvPr/>
        </p:nvSpPr>
        <p:spPr>
          <a:xfrm>
            <a:off x="1887322" y="4892040"/>
            <a:ext cx="1865376" cy="402336"/>
          </a:xfrm>
          <a:prstGeom prst="roundRect">
            <a:avLst>
              <a:gd name="adj" fmla="val 50000"/>
            </a:avLst>
          </a:prstGeom>
          <a:solidFill>
            <a:srgbClr val="10233F"/>
          </a:solidFill>
          <a:ln w="15240">
            <a:solidFill>
              <a:srgbClr val="1D3A5F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1887322" y="4892040"/>
            <a:ext cx="186537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E8E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Aguardando Validação</a:t>
            </a:r>
            <a:endParaRPr lang="en-US" sz="1250" dirty="0"/>
          </a:p>
        </p:txBody>
      </p:sp>
      <p:sp>
        <p:nvSpPr>
          <p:cNvPr id="32" name="Text 30"/>
          <p:cNvSpPr/>
          <p:nvPr/>
        </p:nvSpPr>
        <p:spPr>
          <a:xfrm>
            <a:off x="3789274" y="4892040"/>
            <a:ext cx="2743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500" dirty="0"/>
          </a:p>
        </p:txBody>
      </p:sp>
      <p:sp>
        <p:nvSpPr>
          <p:cNvPr id="33" name="Shape 31"/>
          <p:cNvSpPr/>
          <p:nvPr/>
        </p:nvSpPr>
        <p:spPr>
          <a:xfrm>
            <a:off x="4100170" y="4892040"/>
            <a:ext cx="899770" cy="402336"/>
          </a:xfrm>
          <a:prstGeom prst="roundRect">
            <a:avLst>
              <a:gd name="adj" fmla="val 50000"/>
            </a:avLst>
          </a:prstGeom>
          <a:solidFill>
            <a:srgbClr val="10233F"/>
          </a:solidFill>
          <a:ln w="15240">
            <a:solidFill>
              <a:srgbClr val="34D399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100170" y="4892040"/>
            <a:ext cx="89977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Validado</a:t>
            </a:r>
            <a:endParaRPr lang="en-US" sz="1250" dirty="0"/>
          </a:p>
        </p:txBody>
      </p:sp>
      <p:sp>
        <p:nvSpPr>
          <p:cNvPr id="35" name="Text 33"/>
          <p:cNvSpPr/>
          <p:nvPr/>
        </p:nvSpPr>
        <p:spPr>
          <a:xfrm>
            <a:off x="640080" y="5440680"/>
            <a:ext cx="10789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8BAA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movimentação avisa por e-mail quem age na etapa seguinte — você não precisa avisar ninguém.</a:t>
            </a:r>
            <a:endParaRPr lang="en-US" sz="1250" dirty="0"/>
          </a:p>
        </p:txBody>
      </p:sp>
      <p:sp>
        <p:nvSpPr>
          <p:cNvPr id="36" name="Text 34"/>
          <p:cNvSpPr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BAA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AutoriaSCS • Gestão de Cursos  —  Tutorial do Formador</a:t>
            </a:r>
            <a:endParaRPr lang="en-US" sz="950" dirty="0"/>
          </a:p>
        </p:txBody>
      </p:sp>
      <p:sp>
        <p:nvSpPr>
          <p:cNvPr id="37" name="Text 35"/>
          <p:cNvSpPr/>
          <p:nvPr/>
        </p:nvSpPr>
        <p:spPr>
          <a:xfrm>
            <a:off x="10725912" y="647395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8BAA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/ 14</a:t>
            </a:r>
            <a:endParaRPr lang="en-US" sz="9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16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PARTE MAIS IMPORTANTE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1109167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E8E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 Enviar os materiais do curso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737360"/>
            <a:ext cx="310896" cy="310896"/>
          </a:xfrm>
          <a:prstGeom prst="ellipse">
            <a:avLst/>
          </a:prstGeom>
          <a:solidFill>
            <a:srgbClr val="22D3EE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73736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710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1097280" y="1691640"/>
            <a:ext cx="53035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E8E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Escolha o </a:t>
            </a:r>
            <a:pPr indent="0" marL="0">
              <a:buNone/>
            </a:pPr>
            <a:r>
              <a:rPr lang="en-US" sz="14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Módulo</a:t>
            </a:r>
            <a:pPr indent="0" marL="0">
              <a:buNone/>
            </a:pPr>
            <a:r>
              <a:rPr lang="en-US" sz="1400" dirty="0">
                <a:solidFill>
                  <a:srgbClr val="E8E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Geral (curso inteiro) ou Módulo 1 a 8;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640080" y="2395728"/>
            <a:ext cx="310896" cy="310896"/>
          </a:xfrm>
          <a:prstGeom prst="ellipse">
            <a:avLst/>
          </a:prstGeom>
          <a:solidFill>
            <a:srgbClr val="22D3EE"/>
          </a:solidFill>
          <a:ln/>
        </p:spPr>
      </p:sp>
      <p:sp>
        <p:nvSpPr>
          <p:cNvPr id="8" name="Text 6"/>
          <p:cNvSpPr/>
          <p:nvPr/>
        </p:nvSpPr>
        <p:spPr>
          <a:xfrm>
            <a:off x="640080" y="239572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710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097280" y="2350008"/>
            <a:ext cx="53035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E8E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Escolha a </a:t>
            </a:r>
            <a:pPr indent="0" marL="0">
              <a:buNone/>
            </a:pPr>
            <a:r>
              <a:rPr lang="en-US" sz="14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Categoria</a:t>
            </a:r>
            <a:pPr indent="0" marL="0">
              <a:buNone/>
            </a:pPr>
            <a:r>
              <a:rPr lang="en-US" sz="1400" dirty="0">
                <a:solidFill>
                  <a:srgbClr val="E8E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só a próxima etapa da sequência está liberada;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640080" y="3054096"/>
            <a:ext cx="310896" cy="310896"/>
          </a:xfrm>
          <a:prstGeom prst="ellipse">
            <a:avLst/>
          </a:prstGeom>
          <a:solidFill>
            <a:srgbClr val="22D3EE"/>
          </a:solidFill>
          <a:ln/>
        </p:spPr>
      </p:sp>
      <p:sp>
        <p:nvSpPr>
          <p:cNvPr id="11" name="Text 9"/>
          <p:cNvSpPr/>
          <p:nvPr/>
        </p:nvSpPr>
        <p:spPr>
          <a:xfrm>
            <a:off x="640080" y="305409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710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1097280" y="3008376"/>
            <a:ext cx="53035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E8E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Clique em </a:t>
            </a:r>
            <a:pPr indent="0" marL="0">
              <a:buNone/>
            </a:pPr>
            <a:r>
              <a:rPr lang="en-US" sz="1400" b="1" dirty="0">
                <a:solidFill>
                  <a:srgbClr val="E8E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Escolher arquivo</a:t>
            </a:r>
            <a:pPr indent="0" marL="0">
              <a:buNone/>
            </a:pPr>
            <a:r>
              <a:rPr lang="en-US" sz="1400" dirty="0">
                <a:solidFill>
                  <a:srgbClr val="E8E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(até 25MB — PDF, DOCX, PPTX, MP4, ZIP);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640080" y="3712464"/>
            <a:ext cx="310896" cy="310896"/>
          </a:xfrm>
          <a:prstGeom prst="ellipse">
            <a:avLst/>
          </a:prstGeom>
          <a:solidFill>
            <a:srgbClr val="22D3EE"/>
          </a:solidFill>
          <a:ln/>
        </p:spPr>
      </p:sp>
      <p:sp>
        <p:nvSpPr>
          <p:cNvPr id="14" name="Text 12"/>
          <p:cNvSpPr/>
          <p:nvPr/>
        </p:nvSpPr>
        <p:spPr>
          <a:xfrm>
            <a:off x="640080" y="371246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710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1097280" y="3666744"/>
            <a:ext cx="53035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E8E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Clique em </a:t>
            </a:r>
            <a:pPr indent="0" marL="0">
              <a:buNone/>
            </a:pPr>
            <a:r>
              <a:rPr lang="en-US" sz="14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Enviar</a:t>
            </a:r>
            <a:pPr indent="0" marL="0">
              <a:buNone/>
            </a:pPr>
            <a:r>
              <a:rPr lang="en-US" sz="1400" dirty="0">
                <a:solidFill>
                  <a:srgbClr val="E8E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 A próxima etapa é liberada.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6766560" y="1828800"/>
            <a:ext cx="4846320" cy="1828800"/>
          </a:xfrm>
          <a:prstGeom prst="roundRect">
            <a:avLst>
              <a:gd name="adj" fmla="val 4500"/>
            </a:avLst>
          </a:prstGeom>
          <a:solidFill>
            <a:srgbClr val="10233F"/>
          </a:solidFill>
          <a:ln w="12700">
            <a:solidFill>
              <a:srgbClr val="1D3A5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967728" y="1975104"/>
            <a:ext cx="44439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 que existe uma ordem?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6967728" y="2304288"/>
            <a:ext cx="4443984" cy="12252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E8E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 a sequência em que a MB Estúdios monta o curso na plataforma. O sistema garante que nada chegue faltando ou fora de lugar.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640080" y="4343400"/>
            <a:ext cx="10972800" cy="1391667"/>
          </a:xfrm>
          <a:prstGeom prst="roundRect">
            <a:avLst>
              <a:gd name="adj" fmla="val 5913"/>
            </a:avLst>
          </a:prstGeom>
          <a:solidFill>
            <a:srgbClr val="10233F"/>
          </a:solidFill>
          <a:ln w="12700">
            <a:solidFill>
              <a:srgbClr val="1D3A5F"/>
            </a:solidFill>
            <a:prstDash val="solid"/>
          </a:ln>
        </p:spPr>
      </p:sp>
      <p:pic>
        <p:nvPicPr>
          <p:cNvPr id="20" name="Image 0" descr="/home/user/AutoriaSCS-Scrum-cursos/docs/tutoriais/img/upload-form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9808" y="4453128"/>
            <a:ext cx="10753344" cy="1172211"/>
          </a:xfrm>
          <a:prstGeom prst="rect">
            <a:avLst/>
          </a:prstGeom>
        </p:spPr>
      </p:pic>
      <p:sp>
        <p:nvSpPr>
          <p:cNvPr id="21" name="Text 18"/>
          <p:cNvSpPr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BAA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AutoriaSCS • Gestão de Cursos  —  Tutorial do Formador</a:t>
            </a:r>
            <a:endParaRPr lang="en-US" sz="950" dirty="0"/>
          </a:p>
        </p:txBody>
      </p:sp>
      <p:sp>
        <p:nvSpPr>
          <p:cNvPr id="22" name="Text 19"/>
          <p:cNvSpPr/>
          <p:nvPr/>
        </p:nvSpPr>
        <p:spPr>
          <a:xfrm>
            <a:off x="10725912" y="647395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8BAA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/ 14</a:t>
            </a:r>
            <a:endParaRPr lang="en-US" sz="9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16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PARTE MAIS IMPORTANTE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1109167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E8E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6.1 A ordem de entrega e os itens opcionais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508760"/>
            <a:ext cx="10972800" cy="2095944"/>
          </a:xfrm>
          <a:prstGeom prst="roundRect">
            <a:avLst>
              <a:gd name="adj" fmla="val 3926"/>
            </a:avLst>
          </a:prstGeom>
          <a:solidFill>
            <a:srgbClr val="10233F"/>
          </a:solidFill>
          <a:ln w="12700">
            <a:solidFill>
              <a:srgbClr val="1D3A5F"/>
            </a:solidFill>
            <a:prstDash val="solid"/>
          </a:ln>
        </p:spPr>
      </p:sp>
      <p:pic>
        <p:nvPicPr>
          <p:cNvPr id="5" name="Image 0" descr="/home/user/AutoriaSCS-Scrum-cursos/docs/tutoriais/img/ordem-entrega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9808" y="1618488"/>
            <a:ext cx="10753344" cy="1876488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640080" y="3840480"/>
            <a:ext cx="5394960" cy="2194560"/>
          </a:xfrm>
          <a:prstGeom prst="roundRect">
            <a:avLst>
              <a:gd name="adj" fmla="val 3750"/>
            </a:avLst>
          </a:prstGeom>
          <a:solidFill>
            <a:srgbClr val="10233F"/>
          </a:solidFill>
          <a:ln w="12700">
            <a:solidFill>
              <a:srgbClr val="1D3A5F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841248" y="3986784"/>
            <a:ext cx="499262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Módulo Geral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841248" y="4315968"/>
            <a:ext cx="4992624" cy="15910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E8E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Apresentação do(s) Formador(es)</a:t>
            </a:r>
            <a:endParaRPr lang="en-US" sz="12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E8E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Apresentação do Curso</a:t>
            </a:r>
            <a:endParaRPr lang="en-US" sz="12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E8E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Objetivos</a:t>
            </a:r>
            <a:endParaRPr lang="en-US" sz="12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E8E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Atividade Avaliativa Geral (opcional)</a:t>
            </a:r>
            <a:endParaRPr lang="en-US" sz="12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E8E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Referência Bibliográfica</a:t>
            </a:r>
            <a:endParaRPr lang="en-US" sz="1250" dirty="0"/>
          </a:p>
        </p:txBody>
      </p:sp>
      <p:sp>
        <p:nvSpPr>
          <p:cNvPr id="9" name="Shape 6"/>
          <p:cNvSpPr/>
          <p:nvPr/>
        </p:nvSpPr>
        <p:spPr>
          <a:xfrm>
            <a:off x="6217920" y="3840480"/>
            <a:ext cx="5394960" cy="2194560"/>
          </a:xfrm>
          <a:prstGeom prst="roundRect">
            <a:avLst>
              <a:gd name="adj" fmla="val 3750"/>
            </a:avLst>
          </a:prstGeom>
          <a:solidFill>
            <a:srgbClr val="10233F"/>
          </a:solidFill>
          <a:ln w="12700">
            <a:solidFill>
              <a:srgbClr val="1D3A5F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6419088" y="3986784"/>
            <a:ext cx="499262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Módulos 1 a 8</a:t>
            </a:r>
            <a:endParaRPr lang="en-US" sz="1400" dirty="0"/>
          </a:p>
        </p:txBody>
      </p:sp>
      <p:sp>
        <p:nvSpPr>
          <p:cNvPr id="11" name="Text 8"/>
          <p:cNvSpPr/>
          <p:nvPr/>
        </p:nvSpPr>
        <p:spPr>
          <a:xfrm>
            <a:off x="6419088" y="4315968"/>
            <a:ext cx="4992624" cy="15910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E8E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Apresentação do Módulo</a:t>
            </a:r>
            <a:endParaRPr lang="en-US" sz="12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E8E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Slide   3. Vídeo   4. Anexo</a:t>
            </a:r>
            <a:endParaRPr lang="en-US" sz="12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E8E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Texto Complementar (opcional)</a:t>
            </a:r>
            <a:endParaRPr lang="en-US" sz="12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E8E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 Atividade Avaliativa (opcional)</a:t>
            </a:r>
            <a:endParaRPr lang="en-US" sz="1250" dirty="0"/>
          </a:p>
          <a:p>
            <a:pPr indent="0" marL="0">
              <a:lnSpc>
                <a:spcPct val="112000"/>
              </a:lnSpc>
              <a:buNone/>
            </a:pPr>
            <a:endParaRPr lang="en-US" sz="12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E8E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Nos opcionais, marque "não possuo este material" para liberar a etapa seguinte.</a:t>
            </a:r>
            <a:endParaRPr lang="en-US" sz="1250" dirty="0"/>
          </a:p>
        </p:txBody>
      </p:sp>
      <p:sp>
        <p:nvSpPr>
          <p:cNvPr id="12" name="Text 9"/>
          <p:cNvSpPr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BAA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AutoriaSCS • Gestão de Cursos  —  Tutorial do Formador</a:t>
            </a:r>
            <a:endParaRPr lang="en-US" sz="950" dirty="0"/>
          </a:p>
        </p:txBody>
      </p:sp>
      <p:sp>
        <p:nvSpPr>
          <p:cNvPr id="13" name="Text 10"/>
          <p:cNvSpPr/>
          <p:nvPr/>
        </p:nvSpPr>
        <p:spPr>
          <a:xfrm>
            <a:off x="10725912" y="647395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8BAA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/ 14</a:t>
            </a:r>
            <a:endParaRPr lang="en-US" sz="9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A16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NOVIDADE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1109167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E8E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7. Analisar os vídeos da MB Estúdios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554480"/>
            <a:ext cx="10972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450" dirty="0">
                <a:solidFill>
                  <a:srgbClr val="E8E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Os vídeos do seu curso são produzidos pela MB Estúdios. Quando um vídeo fica pronto, você recebe um e-mail com a descrição exata do material e o link. Sua função é assistir e conferir.</a:t>
            </a:r>
            <a:endParaRPr lang="en-US" sz="1450" dirty="0"/>
          </a:p>
        </p:txBody>
      </p:sp>
      <p:sp>
        <p:nvSpPr>
          <p:cNvPr id="5" name="Shape 3"/>
          <p:cNvSpPr/>
          <p:nvPr/>
        </p:nvSpPr>
        <p:spPr>
          <a:xfrm>
            <a:off x="640080" y="2331720"/>
            <a:ext cx="1543507" cy="402336"/>
          </a:xfrm>
          <a:prstGeom prst="roundRect">
            <a:avLst>
              <a:gd name="adj" fmla="val 50000"/>
            </a:avLst>
          </a:prstGeom>
          <a:solidFill>
            <a:srgbClr val="10233F"/>
          </a:solidFill>
          <a:ln w="15240">
            <a:solidFill>
              <a:srgbClr val="1D3A5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2331720"/>
            <a:ext cx="1543507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E8E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MB disponibiliza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2220163" y="2331720"/>
            <a:ext cx="2743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2531059" y="2331720"/>
            <a:ext cx="1865376" cy="402336"/>
          </a:xfrm>
          <a:prstGeom prst="roundRect">
            <a:avLst>
              <a:gd name="adj" fmla="val 50000"/>
            </a:avLst>
          </a:prstGeom>
          <a:solidFill>
            <a:srgbClr val="10233F"/>
          </a:solidFill>
          <a:ln w="15240">
            <a:solidFill>
              <a:srgbClr val="1D3A5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531059" y="2331720"/>
            <a:ext cx="186537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E8E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Você analisa e marca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4433011" y="2331720"/>
            <a:ext cx="2743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4743907" y="2331720"/>
            <a:ext cx="1060704" cy="402336"/>
          </a:xfrm>
          <a:prstGeom prst="roundRect">
            <a:avLst>
              <a:gd name="adj" fmla="val 50000"/>
            </a:avLst>
          </a:prstGeom>
          <a:solidFill>
            <a:srgbClr val="10233F"/>
          </a:solidFill>
          <a:ln w="15240">
            <a:solidFill>
              <a:srgbClr val="1D3A5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743907" y="2331720"/>
            <a:ext cx="106070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E8E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MB corrige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5841187" y="2331720"/>
            <a:ext cx="2743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6152083" y="2331720"/>
            <a:ext cx="1141171" cy="402336"/>
          </a:xfrm>
          <a:prstGeom prst="roundRect">
            <a:avLst>
              <a:gd name="adj" fmla="val 50000"/>
            </a:avLst>
          </a:prstGeom>
          <a:solidFill>
            <a:srgbClr val="10233F"/>
          </a:solidFill>
          <a:ln w="15240">
            <a:solidFill>
              <a:srgbClr val="34D399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152083" y="2331720"/>
            <a:ext cx="1141171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Você aprova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1094537" y="3017520"/>
            <a:ext cx="10063886" cy="1371600"/>
          </a:xfrm>
          <a:prstGeom prst="roundRect">
            <a:avLst>
              <a:gd name="adj" fmla="val 6000"/>
            </a:avLst>
          </a:prstGeom>
          <a:solidFill>
            <a:srgbClr val="10233F"/>
          </a:solidFill>
          <a:ln w="12700">
            <a:solidFill>
              <a:srgbClr val="1D3A5F"/>
            </a:solidFill>
            <a:prstDash val="solid"/>
          </a:ln>
        </p:spPr>
      </p:sp>
      <p:pic>
        <p:nvPicPr>
          <p:cNvPr id="17" name="Image 0" descr="/home/user/AutoriaSCS-Scrum-cursos/docs/tutoriais/img/video-descricao-mb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04265" y="3127248"/>
            <a:ext cx="9844430" cy="1152144"/>
          </a:xfrm>
          <a:prstGeom prst="rect">
            <a:avLst/>
          </a:prstGeom>
        </p:spPr>
      </p:pic>
      <p:sp>
        <p:nvSpPr>
          <p:cNvPr id="18" name="Shape 15"/>
          <p:cNvSpPr/>
          <p:nvPr/>
        </p:nvSpPr>
        <p:spPr>
          <a:xfrm>
            <a:off x="640080" y="4572000"/>
            <a:ext cx="10972800" cy="1463040"/>
          </a:xfrm>
          <a:prstGeom prst="roundRect">
            <a:avLst>
              <a:gd name="adj" fmla="val 5625"/>
            </a:avLst>
          </a:prstGeom>
          <a:solidFill>
            <a:srgbClr val="10233F"/>
          </a:solidFill>
          <a:ln w="12700">
            <a:solidFill>
              <a:srgbClr val="1D3A5F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841248" y="4718304"/>
            <a:ext cx="1057046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Onde encontrar</a:t>
            </a:r>
            <a:endParaRPr lang="en-US" sz="1400" dirty="0"/>
          </a:p>
        </p:txBody>
      </p:sp>
      <p:sp>
        <p:nvSpPr>
          <p:cNvPr id="20" name="Text 17"/>
          <p:cNvSpPr/>
          <p:nvPr/>
        </p:nvSpPr>
        <p:spPr>
          <a:xfrm>
            <a:off x="841248" y="5047488"/>
            <a:ext cx="10570464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E8E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Abra o curso e clique no botão 🎬 Vídeos (no topo, ao lado de "Apontamentos"). A lista mostra todos os vídeos, a situação de cada um e quantos apontamentos estão em aberto. Clique em "Abrir revisão".</a:t>
            </a:r>
            <a:endParaRPr lang="en-US" sz="1300" dirty="0"/>
          </a:p>
        </p:txBody>
      </p:sp>
      <p:sp>
        <p:nvSpPr>
          <p:cNvPr id="21" name="Text 18"/>
          <p:cNvSpPr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BAA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AutoriaSCS • Gestão de Cursos  —  Tutorial do Formador</a:t>
            </a:r>
            <a:endParaRPr lang="en-US" sz="950" dirty="0"/>
          </a:p>
        </p:txBody>
      </p:sp>
      <p:sp>
        <p:nvSpPr>
          <p:cNvPr id="22" name="Text 19"/>
          <p:cNvSpPr/>
          <p:nvPr/>
        </p:nvSpPr>
        <p:spPr>
          <a:xfrm>
            <a:off x="10725912" y="647395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8BAA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/ 14</a:t>
            </a:r>
            <a:endParaRPr lang="en-US" sz="9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A16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NOVIDADE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1109167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E8E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7.1 Marcar um problema no vídeo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691640"/>
            <a:ext cx="310896" cy="310896"/>
          </a:xfrm>
          <a:prstGeom prst="ellipse">
            <a:avLst/>
          </a:prstGeom>
          <a:solidFill>
            <a:srgbClr val="22D3EE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69164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710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1097280" y="1645920"/>
            <a:ext cx="51206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E8E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Dê </a:t>
            </a:r>
            <a:pPr indent="0" marL="0">
              <a:buNone/>
            </a:pPr>
            <a:r>
              <a:rPr lang="en-US" sz="1350" b="1" dirty="0">
                <a:solidFill>
                  <a:srgbClr val="E8E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play</a:t>
            </a:r>
            <a:pPr indent="0" marL="0">
              <a:buNone/>
            </a:pPr>
            <a:r>
              <a:rPr lang="en-US" sz="1350" dirty="0">
                <a:solidFill>
                  <a:srgbClr val="E8E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e assista ao vídeo no próprio sistema;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640080" y="2441448"/>
            <a:ext cx="310896" cy="310896"/>
          </a:xfrm>
          <a:prstGeom prst="ellipse">
            <a:avLst/>
          </a:prstGeom>
          <a:solidFill>
            <a:srgbClr val="22D3EE"/>
          </a:solidFill>
          <a:ln/>
        </p:spPr>
      </p:sp>
      <p:sp>
        <p:nvSpPr>
          <p:cNvPr id="8" name="Text 6"/>
          <p:cNvSpPr/>
          <p:nvPr/>
        </p:nvSpPr>
        <p:spPr>
          <a:xfrm>
            <a:off x="640080" y="244144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710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097280" y="2395728"/>
            <a:ext cx="51206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E8E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Ao encontrar um problema, pause e clique em </a:t>
            </a:r>
            <a:pPr indent="0" marL="0">
              <a:buNone/>
            </a:pPr>
            <a:r>
              <a:rPr lang="en-US" sz="135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◉ agora</a:t>
            </a:r>
            <a:pPr indent="0" marL="0">
              <a:buNone/>
            </a:pPr>
            <a:r>
              <a:rPr lang="en-US" sz="1350" dirty="0">
                <a:solidFill>
                  <a:srgbClr val="E8E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minuto, segundo e frame são preenchidos sozinhos;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640080" y="3191256"/>
            <a:ext cx="310896" cy="310896"/>
          </a:xfrm>
          <a:prstGeom prst="ellipse">
            <a:avLst/>
          </a:prstGeom>
          <a:solidFill>
            <a:srgbClr val="22D3EE"/>
          </a:solidFill>
          <a:ln/>
        </p:spPr>
      </p:sp>
      <p:sp>
        <p:nvSpPr>
          <p:cNvPr id="11" name="Text 9"/>
          <p:cNvSpPr/>
          <p:nvPr/>
        </p:nvSpPr>
        <p:spPr>
          <a:xfrm>
            <a:off x="640080" y="319125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710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1097280" y="3145536"/>
            <a:ext cx="51206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E8E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Escolha a </a:t>
            </a:r>
            <a:pPr indent="0" marL="0">
              <a:buNone/>
            </a:pPr>
            <a:r>
              <a:rPr lang="en-US" sz="135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classificação</a:t>
            </a:r>
            <a:pPr indent="0" marL="0">
              <a:buNone/>
            </a:pPr>
            <a:r>
              <a:rPr lang="en-US" sz="1350" dirty="0">
                <a:solidFill>
                  <a:srgbClr val="E8E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Áudio, Imagem, Conteúdo, Acessibilidade, Edição, Identidade visual ou Erro técnico;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640080" y="3941064"/>
            <a:ext cx="310896" cy="310896"/>
          </a:xfrm>
          <a:prstGeom prst="ellipse">
            <a:avLst/>
          </a:prstGeom>
          <a:solidFill>
            <a:srgbClr val="22D3EE"/>
          </a:solidFill>
          <a:ln/>
        </p:spPr>
      </p:sp>
      <p:sp>
        <p:nvSpPr>
          <p:cNvPr id="14" name="Text 12"/>
          <p:cNvSpPr/>
          <p:nvPr/>
        </p:nvSpPr>
        <p:spPr>
          <a:xfrm>
            <a:off x="640080" y="394106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710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1097280" y="3895344"/>
            <a:ext cx="51206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E8E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Escreva o que está errado e o que precisa ser corrigido;</a:t>
            </a:r>
            <a:endParaRPr lang="en-US" sz="1350" dirty="0"/>
          </a:p>
        </p:txBody>
      </p:sp>
      <p:sp>
        <p:nvSpPr>
          <p:cNvPr id="16" name="Shape 14"/>
          <p:cNvSpPr/>
          <p:nvPr/>
        </p:nvSpPr>
        <p:spPr>
          <a:xfrm>
            <a:off x="640080" y="4690872"/>
            <a:ext cx="310896" cy="310896"/>
          </a:xfrm>
          <a:prstGeom prst="ellipse">
            <a:avLst/>
          </a:prstGeom>
          <a:solidFill>
            <a:srgbClr val="22D3EE"/>
          </a:solidFill>
          <a:ln/>
        </p:spPr>
      </p:sp>
      <p:sp>
        <p:nvSpPr>
          <p:cNvPr id="17" name="Text 15"/>
          <p:cNvSpPr/>
          <p:nvPr/>
        </p:nvSpPr>
        <p:spPr>
          <a:xfrm>
            <a:off x="640080" y="469087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710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1097280" y="4645152"/>
            <a:ext cx="51206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E8E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Clique em </a:t>
            </a:r>
            <a:pPr indent="0" marL="0">
              <a:buNone/>
            </a:pPr>
            <a:r>
              <a:rPr lang="en-US" sz="135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Registrar apontamento</a:t>
            </a:r>
            <a:pPr indent="0" marL="0">
              <a:buNone/>
            </a:pPr>
            <a:r>
              <a:rPr lang="en-US" sz="1350" dirty="0">
                <a:solidFill>
                  <a:srgbClr val="E8E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a captura do frame vai junto.</a:t>
            </a:r>
            <a:endParaRPr lang="en-US" sz="1350" dirty="0"/>
          </a:p>
        </p:txBody>
      </p:sp>
      <p:sp>
        <p:nvSpPr>
          <p:cNvPr id="19" name="Shape 17"/>
          <p:cNvSpPr/>
          <p:nvPr/>
        </p:nvSpPr>
        <p:spPr>
          <a:xfrm>
            <a:off x="6309360" y="1920240"/>
            <a:ext cx="5303520" cy="2047794"/>
          </a:xfrm>
          <a:prstGeom prst="roundRect">
            <a:avLst>
              <a:gd name="adj" fmla="val 4019"/>
            </a:avLst>
          </a:prstGeom>
          <a:solidFill>
            <a:srgbClr val="10233F"/>
          </a:solidFill>
          <a:ln w="12700">
            <a:solidFill>
              <a:srgbClr val="1D3A5F"/>
            </a:solidFill>
            <a:prstDash val="solid"/>
          </a:ln>
        </p:spPr>
      </p:sp>
      <p:pic>
        <p:nvPicPr>
          <p:cNvPr id="20" name="Image 0" descr="/home/user/AutoriaSCS-Scrum-cursos/docs/tutoriais/img/video-form-marcaca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19088" y="2029968"/>
            <a:ext cx="5084064" cy="1828338"/>
          </a:xfrm>
          <a:prstGeom prst="rect">
            <a:avLst/>
          </a:prstGeom>
        </p:spPr>
      </p:pic>
      <p:sp>
        <p:nvSpPr>
          <p:cNvPr id="21" name="Text 18"/>
          <p:cNvSpPr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BAA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AutoriaSCS • Gestão de Cursos  —  Tutorial do Formador</a:t>
            </a:r>
            <a:endParaRPr lang="en-US" sz="950" dirty="0"/>
          </a:p>
        </p:txBody>
      </p:sp>
      <p:sp>
        <p:nvSpPr>
          <p:cNvPr id="22" name="Text 19"/>
          <p:cNvSpPr/>
          <p:nvPr/>
        </p:nvSpPr>
        <p:spPr>
          <a:xfrm>
            <a:off x="10725912" y="647395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8BAA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/ 14</a:t>
            </a:r>
            <a:endParaRPr lang="en-US" sz="9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A16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NOVIDADE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1109167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E8E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7.2 Acompanhar e aprovar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2398644" y="1463040"/>
            <a:ext cx="3249433" cy="4480560"/>
          </a:xfrm>
          <a:prstGeom prst="roundRect">
            <a:avLst>
              <a:gd name="adj" fmla="val 2533"/>
            </a:avLst>
          </a:prstGeom>
          <a:solidFill>
            <a:srgbClr val="10233F"/>
          </a:solidFill>
          <a:ln w="12700">
            <a:solidFill>
              <a:srgbClr val="1D3A5F"/>
            </a:solidFill>
            <a:prstDash val="solid"/>
          </a:ln>
        </p:spPr>
      </p:sp>
      <p:pic>
        <p:nvPicPr>
          <p:cNvPr id="5" name="Image 0" descr="/home/user/AutoriaSCS-Scrum-cursos/docs/tutoriais/img/video-apontamento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508372" y="1572768"/>
            <a:ext cx="3029977" cy="4261104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7680960" y="1463040"/>
            <a:ext cx="3931920" cy="2103120"/>
          </a:xfrm>
          <a:prstGeom prst="roundRect">
            <a:avLst>
              <a:gd name="adj" fmla="val 3913"/>
            </a:avLst>
          </a:prstGeom>
          <a:solidFill>
            <a:srgbClr val="10233F"/>
          </a:solidFill>
          <a:ln w="12700">
            <a:solidFill>
              <a:srgbClr val="1D3A5F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7882128" y="1609344"/>
            <a:ext cx="35295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 situações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7882128" y="1938528"/>
            <a:ext cx="3529584" cy="14996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E8E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Pendente — a MB ainda não começou</a:t>
            </a:r>
            <a:endParaRPr lang="en-US" sz="12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E8E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 correção — a MB está trabalhando</a:t>
            </a:r>
            <a:endParaRPr lang="en-US" sz="12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E8E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Corrigido — aguarda sua conferência</a:t>
            </a:r>
            <a:endParaRPr lang="en-US" sz="12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E8E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Aprovado — você validou</a:t>
            </a:r>
            <a:endParaRPr lang="en-US" sz="1250" dirty="0"/>
          </a:p>
        </p:txBody>
      </p:sp>
      <p:sp>
        <p:nvSpPr>
          <p:cNvPr id="9" name="Shape 6"/>
          <p:cNvSpPr/>
          <p:nvPr/>
        </p:nvSpPr>
        <p:spPr>
          <a:xfrm>
            <a:off x="7680960" y="3749040"/>
            <a:ext cx="3931920" cy="2194560"/>
          </a:xfrm>
          <a:prstGeom prst="roundRect">
            <a:avLst>
              <a:gd name="adj" fmla="val 3750"/>
            </a:avLst>
          </a:prstGeom>
          <a:solidFill>
            <a:srgbClr val="10233F"/>
          </a:solidFill>
          <a:ln w="12700">
            <a:solidFill>
              <a:srgbClr val="1D3A5F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7882128" y="3895344"/>
            <a:ext cx="35295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Suas ações</a:t>
            </a:r>
            <a:endParaRPr lang="en-US" sz="1400" dirty="0"/>
          </a:p>
        </p:txBody>
      </p:sp>
      <p:sp>
        <p:nvSpPr>
          <p:cNvPr id="11" name="Text 8"/>
          <p:cNvSpPr/>
          <p:nvPr/>
        </p:nvSpPr>
        <p:spPr>
          <a:xfrm>
            <a:off x="7882128" y="4224528"/>
            <a:ext cx="3529584" cy="15910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E8E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Clique no tempo (▶ 1:08) e o player pula para o ponto</a:t>
            </a:r>
            <a:endParaRPr lang="en-US" sz="12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E8E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Responda na caixinha "Responder..."</a:t>
            </a:r>
            <a:endParaRPr lang="en-US" sz="12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E8E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Mude para Aprovado quando conferir</a:t>
            </a:r>
            <a:endParaRPr lang="en-US" sz="12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E8E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Com tudo resolvido, clique em ✓ Aprovar vídeo</a:t>
            </a:r>
            <a:endParaRPr lang="en-US" sz="1250" dirty="0"/>
          </a:p>
        </p:txBody>
      </p:sp>
      <p:sp>
        <p:nvSpPr>
          <p:cNvPr id="12" name="Text 9"/>
          <p:cNvSpPr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BAA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AutoriaSCS • Gestão de Cursos  —  Tutorial do Formador</a:t>
            </a:r>
            <a:endParaRPr lang="en-US" sz="950" dirty="0"/>
          </a:p>
        </p:txBody>
      </p:sp>
      <p:sp>
        <p:nvSpPr>
          <p:cNvPr id="13" name="Text 10"/>
          <p:cNvSpPr/>
          <p:nvPr/>
        </p:nvSpPr>
        <p:spPr>
          <a:xfrm>
            <a:off x="10725912" y="647395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8BAA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 / 14</a:t>
            </a:r>
            <a:endParaRPr lang="en-US" sz="9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D1C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SUPORTE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1109167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E8E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Precisa de ajuda?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645920"/>
            <a:ext cx="10881360" cy="914400"/>
          </a:xfrm>
          <a:prstGeom prst="roundRect">
            <a:avLst>
              <a:gd name="adj" fmla="val 9000"/>
            </a:avLst>
          </a:prstGeom>
          <a:solidFill>
            <a:srgbClr val="10233F"/>
          </a:solidFill>
          <a:ln w="12700">
            <a:solidFill>
              <a:srgbClr val="1D3A5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41248" y="1792224"/>
            <a:ext cx="1047902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Não consigo mover o curso para "Em Planejamento"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841248" y="2121408"/>
            <a:ext cx="1047902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E8E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projeto precisa ser aprovado pela TI, que define a carga horária. Assim que isso acontecer, a opção aparece.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640080" y="2679192"/>
            <a:ext cx="10881360" cy="914400"/>
          </a:xfrm>
          <a:prstGeom prst="roundRect">
            <a:avLst>
              <a:gd name="adj" fmla="val 9000"/>
            </a:avLst>
          </a:prstGeom>
          <a:solidFill>
            <a:srgbClr val="10233F"/>
          </a:solidFill>
          <a:ln w="12700">
            <a:solidFill>
              <a:srgbClr val="1D3A5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41248" y="2825496"/>
            <a:ext cx="1047902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Recebi e-mail de vídeo — onde vejo?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841248" y="3154680"/>
            <a:ext cx="1047902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E8E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Clique no link do e-mail ou abra o curso e use o botão 🎬 Vídeos.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640080" y="3712464"/>
            <a:ext cx="10881360" cy="914400"/>
          </a:xfrm>
          <a:prstGeom prst="roundRect">
            <a:avLst>
              <a:gd name="adj" fmla="val 9000"/>
            </a:avLst>
          </a:prstGeom>
          <a:solidFill>
            <a:srgbClr val="10233F"/>
          </a:solidFill>
          <a:ln w="12700">
            <a:solidFill>
              <a:srgbClr val="1D3A5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41248" y="3858768"/>
            <a:ext cx="1047902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Não consigo enviar vídeo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841248" y="4187952"/>
            <a:ext cx="1047902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E8E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Os vídeos são produzidos e enviados pela MB Estúdios. Você analisa e aprova.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640080" y="4745736"/>
            <a:ext cx="10881360" cy="914400"/>
          </a:xfrm>
          <a:prstGeom prst="roundRect">
            <a:avLst>
              <a:gd name="adj" fmla="val 9000"/>
            </a:avLst>
          </a:prstGeom>
          <a:solidFill>
            <a:srgbClr val="10233F"/>
          </a:solidFill>
          <a:ln w="12700">
            <a:solidFill>
              <a:srgbClr val="1D3A5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41248" y="4892040"/>
            <a:ext cx="1047902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Categoria de material bloqueada (cinza)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841248" y="5221224"/>
            <a:ext cx="1047902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E8E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Alguma etapa anterior do módulo não foi concluída — veja o painel "Ordem de entrega".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640080" y="5989320"/>
            <a:ext cx="10058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8BAA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Equipe de TI do CECAPE  •  </a:t>
            </a:r>
            <a:pPr indent="0" marL="0">
              <a:buNone/>
            </a:pPr>
            <a:r>
              <a:rPr lang="en-US" sz="15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ti.cecape@scseduca.com.br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BAA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AutoriaSCS • Gestão de Cursos  —  Tutorial do Formador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10725912" y="647395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8BAA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 / 14</a:t>
            </a:r>
            <a:endParaRPr lang="en-US" sz="9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2026-08-31T17:49:00Z</dcterms:created>
  <dcterms:modified xsi:type="dcterms:W3CDTF">2026-08-31T17:49:00Z</dcterms:modified>
</cp:coreProperties>
</file>
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C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234440"/>
            <a:ext cx="969264" cy="969264"/>
          </a:xfrm>
          <a:prstGeom prst="roundRect">
            <a:avLst>
              <a:gd name="adj" fmla="val 15094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234440"/>
            <a:ext cx="9692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41248" y="26060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• CECAPE SÃO CAETANO DO SUL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86384" y="292608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 do Formador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420624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Guia completo, passo a passo, para propor cursos, enviar os materiais na ordem certa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acompanhar cada fase — sem precisar de nenhum conhecimento técnico.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114800" cy="457200"/>
          </a:xfrm>
          <a:prstGeom prst="roundRect">
            <a:avLst>
              <a:gd name="adj" fmla="val 5000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3492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Perfil: </a:t>
            </a:r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Professor(a) / Formador(a)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629107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cecapescs.com.br/autoriascs/scrum  •  ti.cecape@scseduca.com.br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você vai aprender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07008" y="1655064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Entrar no sistema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40080" y="2532888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32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07008" y="2496312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Conhecer a tela principal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40080" y="3374136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374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07008" y="3337560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 um curso novo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4215384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215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07008" y="417880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Mover o curso de fase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6492240" y="1691640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059168" y="1655064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e apontamentos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492240" y="2532888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2240" y="2532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059168" y="2496312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Enviar os materiais na ordem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6492240" y="3374136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0" y="3374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059168" y="3337560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Materiais opcionais e arquivos grandes</a:t>
            </a:r>
            <a:endParaRPr lang="en-US" sz="1550" dirty="0"/>
          </a:p>
        </p:txBody>
      </p:sp>
      <p:sp>
        <p:nvSpPr>
          <p:cNvPr id="25" name="Shape 23"/>
          <p:cNvSpPr/>
          <p:nvPr/>
        </p:nvSpPr>
        <p:spPr>
          <a:xfrm>
            <a:off x="6492240" y="4215384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92240" y="4215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059168" y="417880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Modelos, perfil e ajuda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do Formador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13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A PASSO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Entrar no sistema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37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1691640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o navegador (Chrome, Edge ou Firefox);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450592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4505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2404872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Digite </a:t>
            </a:r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cecapescs.com.br/autoriascs/scrum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aperte Enter;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163824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163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3118104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Preencha </a:t>
            </a:r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(institucional) e </a:t>
            </a:r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Senha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(entregue pela TI);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877056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877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3831336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no botão </a:t>
            </a:r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Entrar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754880"/>
            <a:ext cx="5669280" cy="1371600"/>
          </a:xfrm>
          <a:prstGeom prst="roundRect">
            <a:avLst>
              <a:gd name="adj" fmla="val 600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4901184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der errado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5230368"/>
            <a:ext cx="52669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mensagem "E-mail ou senha inválidos" aparece. Confira o que digitou (o sistema diferencia maiúsculas de minúsculas). Esqueceu a senha? Escreva para ti.cecape@scseduca.com.br.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781158" y="1234440"/>
            <a:ext cx="2817124" cy="5029200"/>
          </a:xfrm>
          <a:prstGeom prst="roundRect">
            <a:avLst>
              <a:gd name="adj" fmla="val 2921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20" name="Image 0" descr="/home/user/AutoriaSCS-Scrum-cursos/docs/tutoriais/img/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90886" y="1344168"/>
            <a:ext cx="2597668" cy="4809744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do Formador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A PASSO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 tela principal (Dashboard)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10972800" cy="849535"/>
          </a:xfrm>
          <a:prstGeom prst="roundRect">
            <a:avLst>
              <a:gd name="adj" fmla="val 9687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5" name="Image 0" descr="/home/user/AutoriaSCS-Scrum-cursos/docs/tutoriais/img/navbar-profess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481328"/>
            <a:ext cx="10753344" cy="63007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254203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</a:t>
            </a:r>
            <a:pPr indent="0" marL="0">
              <a:buNone/>
            </a:pPr>
            <a:r>
              <a:rPr lang="en-US" sz="13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página inicial   •   </a:t>
            </a:r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</a:t>
            </a:r>
            <a:pPr indent="0" marL="0">
              <a:buNone/>
            </a:pPr>
            <a:r>
              <a:rPr lang="en-US" sz="13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 para baixar   •   </a:t>
            </a:r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Seu nome </a:t>
            </a:r>
            <a:pPr indent="0" marL="0">
              <a:buNone/>
            </a:pPr>
            <a:r>
              <a:rPr lang="en-US" sz="13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senha e e-mails   •   </a:t>
            </a:r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Sair </a:t>
            </a:r>
            <a:pPr indent="0" marL="0">
              <a:buNone/>
            </a:pPr>
            <a:r>
              <a:rPr lang="en-US" sz="13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encerra o acesso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40080" y="3063240"/>
            <a:ext cx="7498080" cy="2699341"/>
          </a:xfrm>
          <a:prstGeom prst="roundRect">
            <a:avLst>
              <a:gd name="adj" fmla="val 3049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8" name="Image 1" descr="/home/user/AutoriaSCS-Scrum-cursos/docs/tutoriais/img/professor-lis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172968"/>
            <a:ext cx="7278624" cy="247988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8321040" y="3063240"/>
            <a:ext cx="3291840" cy="3108960"/>
          </a:xfrm>
          <a:prstGeom prst="roundRect">
            <a:avLst>
              <a:gd name="adj" fmla="val 2647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522208" y="3209544"/>
            <a:ext cx="2889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só vê os seus cursos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8522208" y="3538728"/>
            <a:ext cx="2889504" cy="2505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lista mostra nome, fase atual (status), prioridade e prazos de cada curso seu.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botão Abrir leva à página completa do curso — é lá que quase tudo acontece.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do Formador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A PASSO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Propor um curso novo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37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169164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Dashboard, clique no botão verde </a:t>
            </a:r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Propor Novo Curso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46888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468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242316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Preencha o formulário (detalhes no próximo slide);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20040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200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315468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</a:t>
            </a:r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confirme na janelinha.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114800"/>
            <a:ext cx="5120640" cy="1920240"/>
          </a:xfrm>
          <a:prstGeom prst="roundRect">
            <a:avLst>
              <a:gd name="adj" fmla="val 4286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4261104"/>
            <a:ext cx="4718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acontece depois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4590288"/>
            <a:ext cx="4718304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curso é criado na fase "Curso Proposto" e a equipe do CECAPE recebe um e-mail automaticamente.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não precisa avisar ninguém — o sistema faz isso a cada passo.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035040" y="1600200"/>
            <a:ext cx="2560320" cy="784492"/>
          </a:xfrm>
          <a:prstGeom prst="roundRect">
            <a:avLst>
              <a:gd name="adj" fmla="val 1049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17" name="Image 0" descr="/home/user/AutoriaSCS-Scrum-cursos/docs/tutoriais/img/botao-prop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1709928"/>
            <a:ext cx="2340864" cy="565036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6035040" y="2651760"/>
            <a:ext cx="5577840" cy="2597776"/>
          </a:xfrm>
          <a:prstGeom prst="roundRect">
            <a:avLst>
              <a:gd name="adj" fmla="val 3168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19" name="Image 1" descr="/home/user/AutoriaSCS-Scrum-cursos/docs/tutoriais/img/form-propos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2761488"/>
            <a:ext cx="5358384" cy="237832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do Formador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13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A PASSO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O formulário, campo por campo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 do curso *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3383280" y="1508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e claro sobre o conteúdo (Guia 01, seção 2)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039112"/>
            <a:ext cx="10972800" cy="0"/>
          </a:xfrm>
          <a:prstGeom prst="line">
            <a:avLst/>
          </a:prstGeom>
          <a:noFill/>
          <a:ln w="9525">
            <a:solidFill>
              <a:srgbClr val="1D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084832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horária *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383280" y="20848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suspensa: 10, 20, 30 ou 40 horas — mostra módulos e minutos de vídeo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615184"/>
            <a:ext cx="10972800" cy="0"/>
          </a:xfrm>
          <a:prstGeom prst="line">
            <a:avLst/>
          </a:prstGeom>
          <a:noFill/>
          <a:ln w="9525">
            <a:solidFill>
              <a:srgbClr val="1D3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60904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Público-alvo *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383280" y="2660904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quem é o curso (ex.: "Professores dos Anos Iniciais")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191256"/>
            <a:ext cx="10972800" cy="0"/>
          </a:xfrm>
          <a:prstGeom prst="line">
            <a:avLst/>
          </a:prstGeom>
          <a:noFill/>
          <a:ln w="9525">
            <a:solidFill>
              <a:srgbClr val="1D3A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236976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ensino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383280" y="3236976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na lista (Educação Infantil, Fundamental...)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3767328"/>
            <a:ext cx="10972800" cy="0"/>
          </a:xfrm>
          <a:prstGeom prst="line">
            <a:avLst/>
          </a:prstGeom>
          <a:noFill/>
          <a:ln w="9525">
            <a:solidFill>
              <a:srgbClr val="1D3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81304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escolar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383280" y="3813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Comece a digitar: a lista de escolas cadastradas aparece — clique na sua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4343400"/>
            <a:ext cx="10972800" cy="0"/>
          </a:xfrm>
          <a:prstGeom prst="line">
            <a:avLst/>
          </a:prstGeom>
          <a:noFill/>
          <a:ln w="9525">
            <a:solidFill>
              <a:srgbClr val="1D3A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3891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383280" y="4389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Baixa, Média, Alta ou Urgente — na dúvida, deixe Média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4919472"/>
            <a:ext cx="10972800" cy="0"/>
          </a:xfrm>
          <a:prstGeom prst="line">
            <a:avLst/>
          </a:prstGeom>
          <a:noFill/>
          <a:ln w="9525">
            <a:solidFill>
              <a:srgbClr val="1D3A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965192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previstas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383280" y="49651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no campo e escolha no calendário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495544"/>
            <a:ext cx="10972800" cy="0"/>
          </a:xfrm>
          <a:prstGeom prst="line">
            <a:avLst/>
          </a:prstGeom>
          <a:noFill/>
          <a:ln w="9525">
            <a:solidFill>
              <a:srgbClr val="1D3A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541264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Breve descrição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3383280" y="5541264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geral com verbo no infinitivo: "Capacitar...", "Desenvolver..."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" y="6172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campos obrigatórios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do Formador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13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A PASSO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Mover o curso de fase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37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1691640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o curso (botão </a:t>
            </a:r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);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60604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606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2560320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quadro </a:t>
            </a:r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de Status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clique na lista suspensa — ela mostra apenas as fases permitidas a você, na ordem certa;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47472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474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3429000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quiser, escreva uma observação (opcional);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34340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343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4297680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</a:t>
            </a:r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Atualizar Status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confirme.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5074920"/>
            <a:ext cx="5852160" cy="1051560"/>
          </a:xfrm>
          <a:prstGeom prst="roundRect">
            <a:avLst>
              <a:gd name="adj" fmla="val 7826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5221224"/>
            <a:ext cx="5449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fica sem saber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5550408"/>
            <a:ext cx="544982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cada movimentação, quem age na próxima etapa recebe e-mail automático.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858000" y="1737360"/>
            <a:ext cx="4754880" cy="1260234"/>
          </a:xfrm>
          <a:prstGeom prst="roundRect">
            <a:avLst>
              <a:gd name="adj" fmla="val 653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20" name="Image 0" descr="/home/user/AutoriaSCS-Scrum-cursos/docs/tutoriais/img/acoes-stat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7728" y="1847088"/>
            <a:ext cx="4535424" cy="1040778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do Formador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13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FLUXO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 As suas fases, na ordem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727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(o caminho normal)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38528"/>
            <a:ext cx="1382573" cy="402336"/>
          </a:xfrm>
          <a:prstGeom prst="roundRect">
            <a:avLst>
              <a:gd name="adj" fmla="val 50000"/>
            </a:avLst>
          </a:prstGeom>
          <a:solidFill>
            <a:srgbClr val="10233F"/>
          </a:solidFill>
          <a:ln w="15240">
            <a:solidFill>
              <a:srgbClr val="1D3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938528"/>
            <a:ext cx="138257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Proposto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2059229" y="1938528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370125" y="1938528"/>
            <a:ext cx="1463040" cy="402336"/>
          </a:xfrm>
          <a:prstGeom prst="roundRect">
            <a:avLst>
              <a:gd name="adj" fmla="val 50000"/>
            </a:avLst>
          </a:prstGeom>
          <a:solidFill>
            <a:srgbClr val="10233F"/>
          </a:solidFill>
          <a:ln w="15240">
            <a:solidFill>
              <a:srgbClr val="1D3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70125" y="193852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Planejamento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869741" y="1938528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180637" y="1938528"/>
            <a:ext cx="1704442" cy="402336"/>
          </a:xfrm>
          <a:prstGeom prst="roundRect">
            <a:avLst>
              <a:gd name="adj" fmla="val 50000"/>
            </a:avLst>
          </a:prstGeom>
          <a:solidFill>
            <a:srgbClr val="10233F"/>
          </a:solidFill>
          <a:ln w="15240">
            <a:solidFill>
              <a:srgbClr val="1D3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80637" y="1938528"/>
            <a:ext cx="1704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Desenvolvimento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921654" y="1938528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32550" y="1938528"/>
            <a:ext cx="1784909" cy="402336"/>
          </a:xfrm>
          <a:prstGeom prst="roundRect">
            <a:avLst>
              <a:gd name="adj" fmla="val 50000"/>
            </a:avLst>
          </a:prstGeom>
          <a:solidFill>
            <a:srgbClr val="10233F"/>
          </a:solidFill>
          <a:ln w="15240">
            <a:solidFill>
              <a:srgbClr val="1D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32550" y="1938528"/>
            <a:ext cx="178490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Pronto para Análise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248716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"Pronto para Análise": </a:t>
            </a:r>
            <a:pPr indent="0" marL="0">
              <a:buNone/>
            </a:pPr>
            <a:r>
              <a:rPr lang="en-US" sz="12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envie todos os materiais (slides 10 a 12).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40080" y="3154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revisão pedir ajustes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3520440"/>
            <a:ext cx="2670048" cy="402336"/>
          </a:xfrm>
          <a:prstGeom prst="roundRect">
            <a:avLst>
              <a:gd name="adj" fmla="val 50000"/>
            </a:avLst>
          </a:prstGeom>
          <a:solidFill>
            <a:srgbClr val="10233F"/>
          </a:solidFill>
          <a:ln w="15240">
            <a:solidFill>
              <a:srgbClr val="1D3A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520440"/>
            <a:ext cx="2670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Recusado - Ajustes Necessários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346704" y="352044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0" y="3520440"/>
            <a:ext cx="980237" cy="402336"/>
          </a:xfrm>
          <a:prstGeom prst="roundRect">
            <a:avLst>
              <a:gd name="adj" fmla="val 50000"/>
            </a:avLst>
          </a:prstGeom>
          <a:solidFill>
            <a:srgbClr val="10233F"/>
          </a:solidFill>
          <a:ln w="15240">
            <a:solidFill>
              <a:srgbClr val="1D3A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0" y="3520440"/>
            <a:ext cx="98023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Ajuste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674413" y="352044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985309" y="3520440"/>
            <a:ext cx="2187245" cy="402336"/>
          </a:xfrm>
          <a:prstGeom prst="roundRect">
            <a:avLst>
              <a:gd name="adj" fmla="val 50000"/>
            </a:avLst>
          </a:prstGeom>
          <a:solidFill>
            <a:srgbClr val="10233F"/>
          </a:solidFill>
          <a:ln w="15240">
            <a:solidFill>
              <a:srgbClr val="1D3A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85309" y="3520440"/>
            <a:ext cx="218724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Pronto para Nova Análise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40080" y="45262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reta final (depois que a MB monta o curso na plataforma)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40080" y="4892040"/>
            <a:ext cx="899770" cy="402336"/>
          </a:xfrm>
          <a:prstGeom prst="roundRect">
            <a:avLst>
              <a:gd name="adj" fmla="val 50000"/>
            </a:avLst>
          </a:prstGeom>
          <a:solidFill>
            <a:srgbClr val="10233F"/>
          </a:solidFill>
          <a:ln w="15240">
            <a:solidFill>
              <a:srgbClr val="1D3A5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4892040"/>
            <a:ext cx="89977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Inserido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1576426" y="489204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1887322" y="4892040"/>
            <a:ext cx="1865376" cy="402336"/>
          </a:xfrm>
          <a:prstGeom prst="roundRect">
            <a:avLst>
              <a:gd name="adj" fmla="val 50000"/>
            </a:avLst>
          </a:prstGeom>
          <a:solidFill>
            <a:srgbClr val="10233F"/>
          </a:solidFill>
          <a:ln w="15240">
            <a:solidFill>
              <a:srgbClr val="1D3A5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887322" y="4892040"/>
            <a:ext cx="1865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Aguardando Validação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3789274" y="4892040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4100170" y="4892040"/>
            <a:ext cx="899770" cy="402336"/>
          </a:xfrm>
          <a:prstGeom prst="roundRect">
            <a:avLst>
              <a:gd name="adj" fmla="val 50000"/>
            </a:avLst>
          </a:prstGeom>
          <a:solidFill>
            <a:srgbClr val="10233F"/>
          </a:solidFill>
          <a:ln w="15240">
            <a:solidFill>
              <a:srgbClr val="34D39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100170" y="4892040"/>
            <a:ext cx="89977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40080" y="54406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marcar "Validado" você confirma que conferiu o curso montado e está tudo certo — a TI então agenda a publicação.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do Formador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13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A PASSO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Checklist e apontamentos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274316" y="1554480"/>
            <a:ext cx="4309368" cy="4023360"/>
          </a:xfrm>
          <a:prstGeom prst="roundRect">
            <a:avLst>
              <a:gd name="adj" fmla="val 2045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5" name="Image 0" descr="/home/user/AutoriaSCS-Scrum-cursos/docs/tutoriais/img/checkl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4044" y="1664208"/>
            <a:ext cx="4089912" cy="38039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71500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Checklist: </a:t>
            </a:r>
            <a:pPr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marque cada item concluído e clique em Salvar Checklist. É o seu mapa do que falta.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492240" y="1554480"/>
            <a:ext cx="5120640" cy="1119586"/>
          </a:xfrm>
          <a:prstGeom prst="roundRect">
            <a:avLst>
              <a:gd name="adj" fmla="val 7351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8" name="Image 1" descr="/home/user/AutoriaSCS-Scrum-cursos/docs/tutoriais/img/apontamentos-lis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1968" y="1664208"/>
            <a:ext cx="4901184" cy="90013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92240" y="470916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Apontamentos: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revisão pedir ajustes, cada item aparece aqui (Técnico, Pedagógico, ABNT). Corrija, marque como Resolvido e devolva o curso: Em Ajuste → Pronto para Nova Análise.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do Formador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13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PARTE MAIS IMPORTANTE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Enviar os materiais do curso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37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1691640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o </a:t>
            </a:r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Geral (curso inteiro) ou Módulo 1 a 8;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3957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2350008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a </a:t>
            </a:r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só a próxima etapa da sequência está liberada; as demais ficam cinza até chegar a vez;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054096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0540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3008376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</a:t>
            </a:r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Escolher arquivo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localize o documento (até 25MB — PDF, DOCX, PPTX, MP4, ZIP);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3666744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</a:t>
            </a:r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Enviar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 próxima etapa é liberada.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766560" y="1828800"/>
            <a:ext cx="4846320" cy="1828800"/>
          </a:xfrm>
          <a:prstGeom prst="roundRect">
            <a:avLst>
              <a:gd name="adj" fmla="val 450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67728" y="1975104"/>
            <a:ext cx="4443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existe uma ordem?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967728" y="2304288"/>
            <a:ext cx="4443984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sequência em que a MB Estúdios monta o curso na plataforma. O sistema garante que nada chegue faltando ou fora de lugar.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4343400"/>
            <a:ext cx="10972800" cy="1696352"/>
          </a:xfrm>
          <a:prstGeom prst="roundRect">
            <a:avLst>
              <a:gd name="adj" fmla="val 4851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20" name="Image 0" descr="/home/user/AutoriaSCS-Scrum-cursos/docs/tutoriais/img/upload-fo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4453128"/>
            <a:ext cx="10753344" cy="1476896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do Formador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13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PARTE MAIS IMPORTANTE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 O painel "Ordem de entrega"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10972800" cy="2095944"/>
          </a:xfrm>
          <a:prstGeom prst="roundRect">
            <a:avLst>
              <a:gd name="adj" fmla="val 3926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5" name="Image 0" descr="/home/user/AutoriaSCS-Scrum-cursos/docs/tutoriais/img/ordem-entreg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618488"/>
            <a:ext cx="10753344" cy="187648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402336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4169664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Geral (ordem fixa)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41248" y="4498848"/>
            <a:ext cx="4992624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Apresentação do(s) Formador(es)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Apresentação do Curso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Objetivos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Atividade Avaliativa Geral (opcional)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Referência Bibliográfica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17920" y="402336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19088" y="4169664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1 a 8 (cada um tem a sua)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419088" y="4498848"/>
            <a:ext cx="4992624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Apresentação do Módulo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Slide   3. Vídeo   4. Anexo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Texto Complementar (opcional)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Atividade Avaliativa (opcional)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do Formador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13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PARTE MAIS IMPORTANTE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 Não tenho esse material — e arquivos grandes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86400" cy="373235"/>
          </a:xfrm>
          <a:prstGeom prst="roundRect">
            <a:avLst>
              <a:gd name="adj" fmla="val 22049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5" name="Image 0" descr="/home/user/AutoriaSCS-Scrum-cursos/docs/tutoriais/img/sem-mater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709928"/>
            <a:ext cx="5266944" cy="15377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283464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 opcionais: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etapa da vez é opcional e você não produziu o material, marque a caixinha — o botão muda para "Registrar sem material" e a etapa seguinte é liberada. Mudou de ideia? Clique em Desfazer no painel de ordem.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40080" y="44805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 obrigatórias </a:t>
            </a:r>
            <a:pPr indent="0" marL="0">
              <a:buNone/>
            </a:pPr>
            <a:r>
              <a:rPr lang="en-US" sz="12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têm essa caixinha — o arquivo precisa ser enviado.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0" y="1600200"/>
            <a:ext cx="5212080" cy="1079346"/>
          </a:xfrm>
          <a:prstGeom prst="roundRect">
            <a:avLst>
              <a:gd name="adj" fmla="val 7625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9" name="Image 1" descr="/home/user/AutoriaSCS-Scrum-cursos/docs/tutoriais/img/links-externo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528" y="1709928"/>
            <a:ext cx="4992624" cy="85989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400800" y="470916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Acima de 25MB (vídeos brutos):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 o material no Google Drive, copie o link de compartilhamento e registre em Links Externos: título, link e tipo → Adicionar.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do Formador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13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C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 de ajuda?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792224"/>
            <a:ext cx="10479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oficiais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41248" y="2121408"/>
            <a:ext cx="10479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Modelos: baixe os templates marcados com ★ vigente (slides, estrutura de curso, guia...). Use sempre a versão vigente.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706624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2852928"/>
            <a:ext cx="10479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Meu Perfil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41248" y="3182112"/>
            <a:ext cx="10479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no 👤 seu nome: troque a senha e escolha como receber os e-mails (imediato, resumo diário ou desativado).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767328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3913632"/>
            <a:ext cx="10479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Enviei um arquivo errado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41248" y="4242816"/>
            <a:ext cx="10479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Envie o certo na mesma categoria e peça a exclusão do errado à TI — somente a administração exclui arquivos.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828032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4974336"/>
            <a:ext cx="10479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 bloqueada (cinza)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5303520"/>
            <a:ext cx="10479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Alguma etapa anterior do módulo não foi concluída. O painel "Ordem de entrega" mostra em azul qual é a etapa da vez.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de TI do CECAPE  •  </a:t>
            </a:r>
            <a:pPr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ti.cecape@scseduca.com.br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do Formador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13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2026-08-19T12:31:41Z</dcterms:created>
  <dcterms:modified xsi:type="dcterms:W3CDTF">2026-08-19T12:31:41Z</dcterms:modified>
</cp:coreProperties>
</file>
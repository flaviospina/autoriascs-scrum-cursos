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C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234440"/>
            <a:ext cx="969264" cy="969264"/>
          </a:xfrm>
          <a:prstGeom prst="roundRect">
            <a:avLst>
              <a:gd name="adj" fmla="val 15094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234440"/>
            <a:ext cx="9692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41248" y="26060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• CECAPE SÃO CAETANO DO SUL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86384" y="292608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do Formador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completo, passo a passo, para propor cursos, enviar os materiais na ordem certa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analisar os vídeos produzidos pela MB Estúdios.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480560" cy="457200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492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Perfil: </a:t>
            </a:r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Professor(a) / Formador(a)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629107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cecapescs.com.br/autoriascs/scrum  •  ti.cecape@scseduca.com.br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você vai aprender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07008" y="1746504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 no sistema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40080" y="2862072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07008" y="2825496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a tela principal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40080" y="3941064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941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07008" y="39044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 um curso novo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07008" y="4983480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aprovação do projeto pela TI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6492240" y="1783080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59168" y="1746504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 o curso de fase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492240" y="2862072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059168" y="2825496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Enviar os materiais na ordem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6492240" y="3941064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3941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059168" y="39044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 opcionais e arquivos grandes</a:t>
            </a:r>
            <a:endParaRPr lang="en-US" sz="1550" dirty="0"/>
          </a:p>
        </p:txBody>
      </p:sp>
      <p:sp>
        <p:nvSpPr>
          <p:cNvPr id="25" name="Shape 23"/>
          <p:cNvSpPr/>
          <p:nvPr/>
        </p:nvSpPr>
        <p:spPr>
          <a:xfrm>
            <a:off x="6492240" y="5020056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59168" y="4983480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Analisar os vídeos da MB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Formador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Entrar no sistema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37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69164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 navegador (Chrome, Edge ou Firefox);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450592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4505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404872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Digite 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cecapescs.com.br/autoriascs/scrum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aperte Enter;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163824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163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3118104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Preencha </a:t>
            </a:r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(entregues pela TI);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877056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877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3831336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no botão 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754880"/>
            <a:ext cx="5669280" cy="1371600"/>
          </a:xfrm>
          <a:prstGeom prst="roundRect">
            <a:avLst>
              <a:gd name="adj" fmla="val 6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4901184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der errado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5230368"/>
            <a:ext cx="52669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mensagem "E-mail ou senha inválidos" aparece. Confira o que digitou (o sistema diferencia maiúsculas de minúsculas). Esqueceu a senha? Escreva para ti.cecape@scseduca.com.br.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781158" y="1234440"/>
            <a:ext cx="2817124" cy="5029200"/>
          </a:xfrm>
          <a:prstGeom prst="roundRect">
            <a:avLst>
              <a:gd name="adj" fmla="val 2921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20" name="Image 0" descr="/home/user/AutoriaSCS-Scrum-cursos/docs/tutoriais/img/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0886" y="1344168"/>
            <a:ext cx="2597668" cy="4809744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Formador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 tela principal (Dashboard)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0972800" cy="849535"/>
          </a:xfrm>
          <a:prstGeom prst="roundRect">
            <a:avLst>
              <a:gd name="adj" fmla="val 9687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5" name="Image 0" descr="/home/user/AutoriaSCS-Scrum-cursos/docs/tutoriais/img/navbar-profess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481328"/>
            <a:ext cx="10753344" cy="63007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25420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</a:t>
            </a:r>
            <a:pPr indent="0" marL="0">
              <a:buNone/>
            </a:pPr>
            <a:r>
              <a:rPr lang="en-US" sz="13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página inicial   •   </a:t>
            </a:r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</a:t>
            </a:r>
            <a:pPr indent="0" marL="0">
              <a:buNone/>
            </a:pPr>
            <a:r>
              <a:rPr lang="en-US" sz="13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para baixar   •   </a:t>
            </a:r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Seu nome </a:t>
            </a:r>
            <a:pPr indent="0" marL="0">
              <a:buNone/>
            </a:pPr>
            <a:r>
              <a:rPr lang="en-US" sz="13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 e e-mails   •   </a:t>
            </a:r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Sair </a:t>
            </a:r>
            <a:pPr indent="0" marL="0">
              <a:buNone/>
            </a:pPr>
            <a:r>
              <a:rPr lang="en-US" sz="13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 o acesso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40080" y="3063240"/>
            <a:ext cx="7498080" cy="2699341"/>
          </a:xfrm>
          <a:prstGeom prst="roundRect">
            <a:avLst>
              <a:gd name="adj" fmla="val 3049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8" name="Image 1" descr="/home/user/AutoriaSCS-Scrum-cursos/docs/tutoriais/img/professor-lis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172968"/>
            <a:ext cx="7278624" cy="247988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321040" y="3063240"/>
            <a:ext cx="3291840" cy="2331720"/>
          </a:xfrm>
          <a:prstGeom prst="roundRect">
            <a:avLst>
              <a:gd name="adj" fmla="val 3529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522208" y="3209544"/>
            <a:ext cx="2889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só vê os seus cursos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522208" y="3538728"/>
            <a:ext cx="2889504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lista mostra nome, fase atual (status), prioridade e prazos de cada curso seu.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botão Abrir leva à página completa do curso.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Formador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Propor um curso novo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37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69164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Dashboard, clique no botão verde </a:t>
            </a:r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Propor Novo Curso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46888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468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42316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Preencha o formulário (campos no próximo slide);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20040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200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315468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</a:t>
            </a:r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confirme na janelinha.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114800"/>
            <a:ext cx="5120640" cy="1920240"/>
          </a:xfrm>
          <a:prstGeom prst="roundRect">
            <a:avLst>
              <a:gd name="adj" fmla="val 4286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261104"/>
            <a:ext cx="4718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acontece depois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4590288"/>
            <a:ext cx="471830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curso é criado na fase "Curso Proposto" e a equipe do CECAPE recebe um e-mail.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 analisa o projeto e define a carga horária oficial — veja o próximo slide.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035040" y="1600200"/>
            <a:ext cx="2560320" cy="784492"/>
          </a:xfrm>
          <a:prstGeom prst="roundRect">
            <a:avLst>
              <a:gd name="adj" fmla="val 1049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17" name="Image 0" descr="/home/user/AutoriaSCS-Scrum-cursos/docs/tutoriais/img/botao-prop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1709928"/>
            <a:ext cx="2340864" cy="565036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6035040" y="2651760"/>
            <a:ext cx="5577840" cy="2597776"/>
          </a:xfrm>
          <a:prstGeom prst="roundRect">
            <a:avLst>
              <a:gd name="adj" fmla="val 3168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19" name="Image 1" descr="/home/user/AutoriaSCS-Scrum-cursos/docs/tutoriais/img/form-propos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2761488"/>
            <a:ext cx="5358384" cy="237832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Formador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O formulário, campo por campo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do curso *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3566160" y="15087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e claro sobre o conteúdo (Guia 01, seção 2)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039112"/>
            <a:ext cx="10972800" cy="0"/>
          </a:xfrm>
          <a:prstGeom prst="line">
            <a:avLst/>
          </a:prstGeom>
          <a:noFill/>
          <a:ln w="9525">
            <a:solidFill>
              <a:srgbClr val="1D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08483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horária sugerida *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566160" y="208483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a sua sugestão — a oficial é definida pela TI ao aprovar o projeto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615184"/>
            <a:ext cx="10972800" cy="0"/>
          </a:xfrm>
          <a:prstGeom prst="line">
            <a:avLst/>
          </a:prstGeom>
          <a:noFill/>
          <a:ln w="9525">
            <a:solidFill>
              <a:srgbClr val="1D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60904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Público-alvo *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566160" y="2660904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é o curso (ex.: "Professores dos Anos Iniciais")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191256"/>
            <a:ext cx="10972800" cy="0"/>
          </a:xfrm>
          <a:prstGeom prst="line">
            <a:avLst/>
          </a:prstGeom>
          <a:noFill/>
          <a:ln w="9525">
            <a:solidFill>
              <a:srgbClr val="1D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236976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ensino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566160" y="3236976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na lista (Educação Infantil, Fundamental...)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767328"/>
            <a:ext cx="10972800" cy="0"/>
          </a:xfrm>
          <a:prstGeom prst="line">
            <a:avLst/>
          </a:prstGeom>
          <a:noFill/>
          <a:ln w="9525">
            <a:solidFill>
              <a:srgbClr val="1D3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81304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escolar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566160" y="3813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Comece a digitar: a lista de escolas cadastradas aparece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4343400"/>
            <a:ext cx="10972800" cy="0"/>
          </a:xfrm>
          <a:prstGeom prst="line">
            <a:avLst/>
          </a:prstGeom>
          <a:noFill/>
          <a:ln w="9525">
            <a:solidFill>
              <a:srgbClr val="1D3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3891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566160" y="43891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Baixa, Média, Alta ou Urgente — na dúvida, deixe Média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4919472"/>
            <a:ext cx="10972800" cy="0"/>
          </a:xfrm>
          <a:prstGeom prst="line">
            <a:avLst/>
          </a:prstGeom>
          <a:noFill/>
          <a:ln w="9525">
            <a:solidFill>
              <a:srgbClr val="1D3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96519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previstas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566160" y="496519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no campo e escolha no calendário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495544"/>
            <a:ext cx="10972800" cy="0"/>
          </a:xfrm>
          <a:prstGeom prst="line">
            <a:avLst/>
          </a:prstGeom>
          <a:noFill/>
          <a:ln w="9525">
            <a:solidFill>
              <a:srgbClr val="1D3A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541264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Breve descrição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566160" y="5541264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geral com verbo no infinitivo: "Capacitar...", "Desenvolver..."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campos obrigatórios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Formador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NOVIDADE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 aprovação do projeto pela TI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de propor, o curso fica em "Curso Proposto" e você aguarda: a equipe de TI analisa o projeto e define a carga horária oficial, movendo o curso para "Projeto Aprovado". Só então você segue para o planejamento.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1382573" cy="402336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5240">
            <a:solidFill>
              <a:srgbClr val="1D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377440"/>
            <a:ext cx="138257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Proposto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059229" y="237744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370125" y="2377440"/>
            <a:ext cx="1543507" cy="402336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5240">
            <a:solidFill>
              <a:srgbClr val="1D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70125" y="2377440"/>
            <a:ext cx="154350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Aprovado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950208" y="237744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261104" y="2377440"/>
            <a:ext cx="1463040" cy="402336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5240">
            <a:solidFill>
              <a:srgbClr val="1D3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61104" y="237744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Planejamento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259247" y="2971800"/>
            <a:ext cx="9734465" cy="1737360"/>
          </a:xfrm>
          <a:prstGeom prst="roundRect">
            <a:avLst>
              <a:gd name="adj" fmla="val 4737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14" name="Image 0" descr="/home/user/AutoriaSCS-Scrum-cursos/docs/tutoriais/img/curso-identific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8975" y="3081528"/>
            <a:ext cx="9515009" cy="1517904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40080" y="489204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41248" y="5038344"/>
            <a:ext cx="1057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identificação oficial do curso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41248" y="5367528"/>
            <a:ext cx="105704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aprovar, o sistema monta o nome oficial — Nome do curso - Formador(a) - Carga horária — e envia por e-mail à MB Estúdios e à TI. É esse o nome usado na pasta do curso e no pacote de materiais.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Formador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FLUXO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As suas fases, na ordem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727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(o caminho normal)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38528"/>
            <a:ext cx="1543507" cy="402336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5240">
            <a:solidFill>
              <a:srgbClr val="1D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38528"/>
            <a:ext cx="154350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Aprovado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220163" y="1938528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531059" y="1938528"/>
            <a:ext cx="1463040" cy="402336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5240">
            <a:solidFill>
              <a:srgbClr val="1D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31059" y="193852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Planejamento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030675" y="1938528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341571" y="1938528"/>
            <a:ext cx="1704442" cy="402336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5240">
            <a:solidFill>
              <a:srgbClr val="1D3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41571" y="1938528"/>
            <a:ext cx="1704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Desenvolvimento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082589" y="1938528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393485" y="1938528"/>
            <a:ext cx="1784909" cy="402336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5240">
            <a:solidFill>
              <a:srgbClr val="1D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93485" y="1938528"/>
            <a:ext cx="178490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 para Análise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248716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"Pronto para Análise": </a:t>
            </a:r>
            <a:pPr indent="0" marL="0">
              <a:buNone/>
            </a:pPr>
            <a:r>
              <a:rPr lang="en-US" sz="12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envie todos os materiais (slides 9 e 10).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" y="3154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revisão pedir ajustes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3520440"/>
            <a:ext cx="2670048" cy="402336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5240">
            <a:solidFill>
              <a:srgbClr val="1D3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520440"/>
            <a:ext cx="2670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Recusado - Ajustes Necessários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346704" y="352044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0" y="3520440"/>
            <a:ext cx="980237" cy="402336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5240">
            <a:solidFill>
              <a:srgbClr val="1D3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0" y="3520440"/>
            <a:ext cx="98023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Ajuste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674413" y="352044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985309" y="3520440"/>
            <a:ext cx="2187245" cy="402336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5240">
            <a:solidFill>
              <a:srgbClr val="1D3A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85309" y="3520440"/>
            <a:ext cx="218724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 para Nova Análise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45262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reta final (depois que a MB monta o curso na plataforma)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40080" y="4892040"/>
            <a:ext cx="899770" cy="402336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5240">
            <a:solidFill>
              <a:srgbClr val="1D3A5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892040"/>
            <a:ext cx="8997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Inserido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576426" y="489204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1887322" y="4892040"/>
            <a:ext cx="1865376" cy="402336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5240">
            <a:solidFill>
              <a:srgbClr val="1D3A5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87322" y="4892040"/>
            <a:ext cx="1865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Aguardando Validação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3789274" y="489204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4100170" y="4892040"/>
            <a:ext cx="899770" cy="402336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5240">
            <a:solidFill>
              <a:srgbClr val="34D39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100170" y="4892040"/>
            <a:ext cx="8997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40080" y="54406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movimentação avisa por e-mail quem age na etapa seguinte — você não precisa avisar ninguém.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Formador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PARTE MAIS IMPORTANTE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Enviar os materiais do curso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37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691640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o 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Geral (curso inteiro) ou Módulo 1 a 8;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3957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350008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a 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só a próxima etapa da sequência está liberada;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054096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3008376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</a:t>
            </a:r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Escolher arquivo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(até 25MB — PDF, DOCX, PPTX, MP4, ZIP);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3666744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Enviar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 próxima etapa é liberada.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766560" y="1828800"/>
            <a:ext cx="4846320" cy="1828800"/>
          </a:xfrm>
          <a:prstGeom prst="roundRect">
            <a:avLst>
              <a:gd name="adj" fmla="val 45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67728" y="1975104"/>
            <a:ext cx="4443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existe uma ordem?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967728" y="2304288"/>
            <a:ext cx="444398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sequência em que a MB Estúdios monta o curso na plataforma. O sistema garante que nada chegue faltando ou fora de lugar.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343400"/>
            <a:ext cx="10972800" cy="1696352"/>
          </a:xfrm>
          <a:prstGeom prst="roundRect">
            <a:avLst>
              <a:gd name="adj" fmla="val 4851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20" name="Image 0" descr="/home/user/AutoriaSCS-Scrum-cursos/docs/tutoriais/img/upload-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453128"/>
            <a:ext cx="10753344" cy="1476896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Formador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PARTE MAIS IMPORTANTE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 A ordem de entrega e os itens opcionais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10972800" cy="2095944"/>
          </a:xfrm>
          <a:prstGeom prst="roundRect">
            <a:avLst>
              <a:gd name="adj" fmla="val 3926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5" name="Image 0" descr="/home/user/AutoriaSCS-Scrum-cursos/docs/tutoriais/img/ordem-entreg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618488"/>
            <a:ext cx="10753344" cy="18764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3840480"/>
            <a:ext cx="5394960" cy="2194560"/>
          </a:xfrm>
          <a:prstGeom prst="roundRect">
            <a:avLst>
              <a:gd name="adj" fmla="val 375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3986784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Geral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41248" y="4315968"/>
            <a:ext cx="499262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Apresentação do(s) Formador(es)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Apresentação do Curso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Objetivos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Atividade Avaliativa Geral (opcional)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Referência Bibliográfica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17920" y="3840480"/>
            <a:ext cx="5394960" cy="2194560"/>
          </a:xfrm>
          <a:prstGeom prst="roundRect">
            <a:avLst>
              <a:gd name="adj" fmla="val 375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19088" y="3986784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1 a 8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19088" y="4315968"/>
            <a:ext cx="499262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Apresentação do Módulo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Slide   3. Vídeo   4. Anexo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Texto Complementar (opcional)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Atividade Avaliativa (opcional)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opcionais, marque "não possuo este material" para liberar a etapa seguinte.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Formador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NOVIDADE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Analisar os vídeos da MB Estúdios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vídeos do seu curso são produzidos pela MB Estúdios. Quando um vídeo fica pronto, você recebe um e-mail com a descrição exata do material e o link. Sua função é assistir e conferir.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1543507" cy="402336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5240">
            <a:solidFill>
              <a:srgbClr val="1D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331720"/>
            <a:ext cx="154350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 disponibiliza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220163" y="233172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531059" y="2331720"/>
            <a:ext cx="1865376" cy="402336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5240">
            <a:solidFill>
              <a:srgbClr val="1D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31059" y="2331720"/>
            <a:ext cx="1865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analisa e marca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433011" y="233172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743907" y="2331720"/>
            <a:ext cx="1060704" cy="402336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5240">
            <a:solidFill>
              <a:srgbClr val="1D3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43907" y="2331720"/>
            <a:ext cx="1060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 corrige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841187" y="233172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152083" y="2331720"/>
            <a:ext cx="1141171" cy="402336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5240">
            <a:solidFill>
              <a:srgbClr val="34D3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52083" y="2331720"/>
            <a:ext cx="114117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aprova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094537" y="3017520"/>
            <a:ext cx="10063886" cy="1371600"/>
          </a:xfrm>
          <a:prstGeom prst="roundRect">
            <a:avLst>
              <a:gd name="adj" fmla="val 6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17" name="Image 0" descr="/home/user/AutoriaSCS-Scrum-cursos/docs/tutoriais/img/video-descricao-m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4265" y="3127248"/>
            <a:ext cx="9844430" cy="1152144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640080" y="457200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41248" y="4718304"/>
            <a:ext cx="1057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encontrar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41248" y="5047488"/>
            <a:ext cx="105704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 curso e clique no botão 🎬 Vídeos (no topo, ao lado de "Apontamentos"). A lista mostra todos os vídeos, a situação de cada um e quantos apontamentos estão em aberto. Clique em "Abrir revisão".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Formador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NOVIDADE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 Marcar um problema no vídeo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91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64592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Dê </a:t>
            </a:r>
            <a:pPr indent="0" marL="0">
              <a:buNone/>
            </a:pPr>
            <a:r>
              <a:rPr lang="en-US" sz="13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</a:t>
            </a:r>
            <a:pPr indent="0" marL="0"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assista ao vídeo no próprio sistema;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441448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441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395728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encontrar um problema, pause e clique em </a:t>
            </a:r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 agora</a:t>
            </a:r>
            <a:pPr indent="0" marL="0"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minuto, segundo e frame são preenchidos sozinhos;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3191256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191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3145536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a </a:t>
            </a:r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</a:t>
            </a:r>
            <a:pPr indent="0" marL="0"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Áudio, Imagem, Conteúdo, Acessibilidade, Edição, Identidade visual ou Erro técnico;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3941064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941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3895344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o que está errado e o que precisa ser corrigido;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690872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690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464515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</a:t>
            </a:r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apontamento</a:t>
            </a:r>
            <a:pPr indent="0" marL="0"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captura do frame vai junto.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309360" y="1920240"/>
            <a:ext cx="5303520" cy="2047794"/>
          </a:xfrm>
          <a:prstGeom prst="roundRect">
            <a:avLst>
              <a:gd name="adj" fmla="val 4019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20" name="Image 0" descr="/home/user/AutoriaSCS-Scrum-cursos/docs/tutoriais/img/video-form-marc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19088" y="2029968"/>
            <a:ext cx="5084064" cy="182833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Formador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NOVIDADE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 Acompanhar e aprovar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398644" y="1463040"/>
            <a:ext cx="3249433" cy="4480560"/>
          </a:xfrm>
          <a:prstGeom prst="roundRect">
            <a:avLst>
              <a:gd name="adj" fmla="val 253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5" name="Image 0" descr="/home/user/AutoriaSCS-Scrum-cursos/docs/tutoriais/img/video-apontament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08372" y="1572768"/>
            <a:ext cx="3029977" cy="42611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80960" y="1463040"/>
            <a:ext cx="3931920" cy="2103120"/>
          </a:xfrm>
          <a:prstGeom prst="roundRect">
            <a:avLst>
              <a:gd name="adj" fmla="val 391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882128" y="1609344"/>
            <a:ext cx="3529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situações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882128" y="1938528"/>
            <a:ext cx="3529584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Pendente — a MB ainda não começou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correção — a MB está trabalhando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Corrigido — aguarda sua conferência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 — você validou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680960" y="3749040"/>
            <a:ext cx="3931920" cy="2194560"/>
          </a:xfrm>
          <a:prstGeom prst="roundRect">
            <a:avLst>
              <a:gd name="adj" fmla="val 375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82128" y="3895344"/>
            <a:ext cx="3529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Suas ações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882128" y="4224528"/>
            <a:ext cx="352958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Clique no tempo (▶ 1:08) e o player pula para o ponto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Responda na caixinha "Responder..."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Mude para Aprovado quando conferir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 tudo resolvido, clique em ✓ Aprovar vídeo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Formador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C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 de ajuda?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1024128"/>
          </a:xfrm>
          <a:prstGeom prst="roundRect">
            <a:avLst>
              <a:gd name="adj" fmla="val 8036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837944"/>
            <a:ext cx="10479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consigo mover o curso para "Em Planejamento"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41248" y="2167128"/>
            <a:ext cx="10479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projeto precisa ser aprovado pela TI, que define a carga horária. Assim que isso acontecer, a opção aparece.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62072"/>
            <a:ext cx="10881360" cy="1024128"/>
          </a:xfrm>
          <a:prstGeom prst="roundRect">
            <a:avLst>
              <a:gd name="adj" fmla="val 8036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3008376"/>
            <a:ext cx="10479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Recebi e-mail de vídeo — onde vejo?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3337560"/>
            <a:ext cx="10479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no link do e-mail ou abra o curso e use o botão 🎬 Vídeos.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032504"/>
            <a:ext cx="10881360" cy="1024128"/>
          </a:xfrm>
          <a:prstGeom prst="roundRect">
            <a:avLst>
              <a:gd name="adj" fmla="val 8036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4178808"/>
            <a:ext cx="10479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consigo enviar vídeo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4507992"/>
            <a:ext cx="10479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vídeos são produzidos e enviados pela MB Estúdios. Você analisa e aprova.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5202936"/>
            <a:ext cx="10881360" cy="1024128"/>
          </a:xfrm>
          <a:prstGeom prst="roundRect">
            <a:avLst>
              <a:gd name="adj" fmla="val 8036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5349240"/>
            <a:ext cx="10479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 de material bloqueada (cinza)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5678424"/>
            <a:ext cx="10479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Alguma etapa anterior do módulo não foi concluída — veja o painel "Ordem de entrega".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de TI do CECAPE  •  </a:t>
            </a:r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ti.cecape@scseduca.com.br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Formador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14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2026-08-31T17:36:08Z</dcterms:created>
  <dcterms:modified xsi:type="dcterms:W3CDTF">2026-08-31T17:36:08Z</dcterms:modified>
</cp:coreProperties>
</file>
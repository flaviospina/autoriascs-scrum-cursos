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234440"/>
            <a:ext cx="969264" cy="969264"/>
          </a:xfrm>
          <a:prstGeom prst="roundRect">
            <a:avLst>
              <a:gd name="adj" fmla="val 15094"/>
            </a:avLst>
          </a:prstGeom>
          <a:solidFill>
            <a:srgbClr val="22D3EE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1234440"/>
            <a:ext cx="969264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41248" y="2606040"/>
            <a:ext cx="10058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• CECAPE SÃO CAETANO DO SUL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786384" y="2926080"/>
            <a:ext cx="10607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Tutorial da MB Estúdios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420624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disponibilizar os vídeos para a análise do formador, tratar os apontamentos,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os materiais na ordem e publicar os cursos.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22960" y="5349240"/>
            <a:ext cx="4480560" cy="457200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5349240"/>
            <a:ext cx="4480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Perfil: </a:t>
            </a:r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Estúdios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6291072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cecapescs.com.br/autoriascs/scrum  •  ti.cecape@scseduca.com.br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CONTEÚDO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você vai aprender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207008" y="1746504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papel da MB no fluxo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640080" y="2862072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207008" y="2825496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os cursos</a:t>
            </a:r>
            <a:endParaRPr lang="en-US" sz="1550" dirty="0"/>
          </a:p>
        </p:txBody>
      </p:sp>
      <p:sp>
        <p:nvSpPr>
          <p:cNvPr id="10" name="Shape 8"/>
          <p:cNvSpPr/>
          <p:nvPr/>
        </p:nvSpPr>
        <p:spPr>
          <a:xfrm>
            <a:off x="640080" y="3941064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207008" y="39044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Mover o status</a:t>
            </a:r>
            <a:endParaRPr lang="en-US" sz="1550" dirty="0"/>
          </a:p>
        </p:txBody>
      </p:sp>
      <p:sp>
        <p:nvSpPr>
          <p:cNvPr id="13" name="Shape 11"/>
          <p:cNvSpPr/>
          <p:nvPr/>
        </p:nvSpPr>
        <p:spPr>
          <a:xfrm>
            <a:off x="640080" y="5020056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207008" y="498348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o pacote ZIP na ordem</a:t>
            </a:r>
            <a:endParaRPr lang="en-US" sz="1550" dirty="0"/>
          </a:p>
        </p:txBody>
      </p:sp>
      <p:sp>
        <p:nvSpPr>
          <p:cNvPr id="16" name="Shape 14"/>
          <p:cNvSpPr/>
          <p:nvPr/>
        </p:nvSpPr>
        <p:spPr>
          <a:xfrm>
            <a:off x="6492240" y="1783080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17830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7059168" y="1746504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vídeos</a:t>
            </a:r>
            <a:endParaRPr lang="en-US" sz="1550" dirty="0"/>
          </a:p>
        </p:txBody>
      </p:sp>
      <p:sp>
        <p:nvSpPr>
          <p:cNvPr id="19" name="Shape 17"/>
          <p:cNvSpPr/>
          <p:nvPr/>
        </p:nvSpPr>
        <p:spPr>
          <a:xfrm>
            <a:off x="6492240" y="2862072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92240" y="28620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7059168" y="2825496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Tratar os apontamentos</a:t>
            </a:r>
            <a:endParaRPr lang="en-US" sz="1550" dirty="0"/>
          </a:p>
        </p:txBody>
      </p:sp>
      <p:sp>
        <p:nvSpPr>
          <p:cNvPr id="22" name="Shape 20"/>
          <p:cNvSpPr/>
          <p:nvPr/>
        </p:nvSpPr>
        <p:spPr>
          <a:xfrm>
            <a:off x="6492240" y="3941064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492240" y="394106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7059168" y="3904488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Enviar versões corrigidas</a:t>
            </a:r>
            <a:endParaRPr lang="en-US" sz="1550" dirty="0"/>
          </a:p>
        </p:txBody>
      </p:sp>
      <p:sp>
        <p:nvSpPr>
          <p:cNvPr id="25" name="Shape 23"/>
          <p:cNvSpPr/>
          <p:nvPr/>
        </p:nvSpPr>
        <p:spPr>
          <a:xfrm>
            <a:off x="6492240" y="5020056"/>
            <a:ext cx="384048" cy="384048"/>
          </a:xfrm>
          <a:prstGeom prst="ellipse">
            <a:avLst/>
          </a:prstGeom>
          <a:solidFill>
            <a:srgbClr val="10233F"/>
          </a:solidFill>
          <a:ln w="17780">
            <a:solidFill>
              <a:srgbClr val="22D3E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92240" y="50200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7059168" y="4983480"/>
            <a:ext cx="482803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conta MB não faz</a:t>
            </a:r>
            <a:endParaRPr lang="en-US" sz="155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MB Estúdios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11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O papel da MB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792224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Produção dos vídeos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21408"/>
            <a:ext cx="316382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MB produz as videoaulas e as disponibiliza no sistema para o(a) formador(a) analisar.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645920"/>
            <a:ext cx="3566160" cy="1874520"/>
          </a:xfrm>
          <a:prstGeom prst="roundRect">
            <a:avLst>
              <a:gd name="adj" fmla="val 439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792224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1 — Inserção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0288" y="2121408"/>
            <a:ext cx="316382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TI move para "Enviado para Inserção" → a MB baixa o pacote, monta o curso e marca Em Inserção → Inserido.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645920"/>
            <a:ext cx="3474720" cy="1874520"/>
          </a:xfrm>
          <a:prstGeom prst="roundRect">
            <a:avLst>
              <a:gd name="adj" fmla="val 439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1792224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Momento 2 — Publicação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39328" y="2121408"/>
            <a:ext cx="3072384" cy="1271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a data agendada pela TI, a MB publica na plataforma e marca Publicado.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0972800" cy="2148840"/>
          </a:xfrm>
          <a:prstGeom prst="roundRect">
            <a:avLst>
              <a:gd name="adj" fmla="val 383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86784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tudo: a identificação do curso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315968"/>
            <a:ext cx="10570464" cy="1545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a TI aprova o projeto de um curso novo, a MB recebe um e-mail com a identificação oficial no formato "Nome do curso - Nome do(a) formador(a) - Carga horária". Use exatamente esse nome na pasta do curso — ele também dá nome ao pacote ZIP dos materiais.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MB Estúdios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11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Encontrar os cursos no Kanban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430475" y="1463040"/>
            <a:ext cx="7392010" cy="2926080"/>
          </a:xfrm>
          <a:prstGeom prst="roundRect">
            <a:avLst>
              <a:gd name="adj" fmla="val 281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5" name="Image 0" descr="/home/user/AutoriaSCS-Scrum-cursos/docs/tutoriais/img/kanban-slid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40203" y="1572768"/>
            <a:ext cx="7172554" cy="270662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5029200"/>
            <a:ext cx="10972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quadro mostra todas as etapas do fluxo. </a:t>
            </a:r>
            <a:pPr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para a direita até as colunas MB Estúdio e Publicado — é onde ficam os cursos que aguardam a MB. Clique em Abrir no cartão para entrar na página do curso.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MB Estúdios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11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Mover o status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página do curso, quadro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de Status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lista mostra apenas a movimentação permitida à MB agora;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5212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em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Atualizar Status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confirme.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5669280" cy="621792"/>
          </a:xfrm>
          <a:prstGeom prst="roundRect">
            <a:avLst>
              <a:gd name="adj" fmla="val 13235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4352544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681728"/>
            <a:ext cx="526694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841248" y="4206240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Enviado para Inserção → Em Inserção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4297680" y="4206240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Começamos a montar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919472"/>
            <a:ext cx="5669280" cy="621792"/>
          </a:xfrm>
          <a:prstGeom prst="roundRect">
            <a:avLst>
              <a:gd name="adj" fmla="val 13235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1248" y="5065776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41248" y="5394960"/>
            <a:ext cx="526694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41248" y="4919472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Inserção → Inserido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4297680" y="4919472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Formador pode conferir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40080" y="5632704"/>
            <a:ext cx="5669280" cy="621792"/>
          </a:xfrm>
          <a:prstGeom prst="roundRect">
            <a:avLst>
              <a:gd name="adj" fmla="val 13235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41248" y="5779008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41248" y="6108192"/>
            <a:ext cx="5266944" cy="182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841248" y="5632704"/>
            <a:ext cx="3383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Publicação → Publicado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297680" y="5632704"/>
            <a:ext cx="1920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 no ar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766560" y="1783080"/>
            <a:ext cx="4846320" cy="1281218"/>
          </a:xfrm>
          <a:prstGeom prst="roundRect">
            <a:avLst>
              <a:gd name="adj" fmla="val 642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29" name="Image 0" descr="/home/user/AutoriaSCS-Scrum-cursos/docs/tutoriais/img/mb-aco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76288" y="1892808"/>
            <a:ext cx="4626864" cy="1061762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MB Estúdios</a:t>
            </a:r>
            <a:endParaRPr lang="en-US" sz="950" dirty="0"/>
          </a:p>
        </p:txBody>
      </p:sp>
      <p:sp>
        <p:nvSpPr>
          <p:cNvPr id="31" name="Text 28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11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Baixar tudo de uma vez, na ordem certa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5394960" cy="752435"/>
          </a:xfrm>
          <a:prstGeom prst="roundRect">
            <a:avLst>
              <a:gd name="adj" fmla="val 1093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5" name="Image 0" descr="/home/user/AutoriaSCS-Scrum-cursos/docs/tutoriais/img/mb-zi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664208"/>
            <a:ext cx="5175504" cy="53297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40080" y="274320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7" name="Text 4"/>
          <p:cNvSpPr/>
          <p:nvPr/>
        </p:nvSpPr>
        <p:spPr>
          <a:xfrm>
            <a:off x="640080" y="27432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1097280" y="269748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Clique no botão verde </a:t>
            </a:r>
            <a:pPr indent="0" marL="0">
              <a:buNone/>
            </a:pPr>
            <a:r>
              <a:rPr lang="en-US" sz="140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Baixar todos (ZIP)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640080" y="347472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0" name="Text 7"/>
          <p:cNvSpPr/>
          <p:nvPr/>
        </p:nvSpPr>
        <p:spPr>
          <a:xfrm>
            <a:off x="64008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1097280" y="342900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Extraia o arquivo (botão direito → Extrair tudo);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0080" y="420624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3" name="Text 10"/>
          <p:cNvSpPr/>
          <p:nvPr/>
        </p:nvSpPr>
        <p:spPr>
          <a:xfrm>
            <a:off x="640080" y="4206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1097280" y="4160520"/>
            <a:ext cx="4937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Insira na plataforma seguindo a numeração das pastas.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00800" y="1554480"/>
            <a:ext cx="5212080" cy="3200400"/>
          </a:xfrm>
          <a:prstGeom prst="roundRect">
            <a:avLst>
              <a:gd name="adj" fmla="val 2571"/>
            </a:avLst>
          </a:prstGeom>
          <a:solidFill>
            <a:srgbClr val="07101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629400" y="1737360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 do pacote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6629400" y="2148840"/>
            <a:ext cx="475488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00 - Geral/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01 - Apresentação do(s) Formador(es)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02 - Apresentação do Curso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03 - Objetivos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01 - Módulo 1/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01 - Apresentação do Módulo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02 - Slide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03 - Vídeo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04 - Anexo</a:t>
            </a:r>
            <a:endParaRPr lang="en-US" sz="115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150" dirty="0">
                <a:solidFill>
                  <a:srgbClr val="E8EEF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02 - Módulo 2/ ...</a:t>
            </a:r>
            <a:endParaRPr lang="en-US" sz="1150" dirty="0"/>
          </a:p>
        </p:txBody>
      </p:sp>
      <p:sp>
        <p:nvSpPr>
          <p:cNvPr id="18" name="Text 15"/>
          <p:cNvSpPr/>
          <p:nvPr/>
        </p:nvSpPr>
        <p:spPr>
          <a:xfrm>
            <a:off x="640080" y="5394960"/>
            <a:ext cx="5394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arquivo ZIP recebe a identificação oficial do curso.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MB Estúdios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11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Disponibilizar um vídeo para análise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Abra o curso e clique em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🎬 Vídeos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624328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62432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78608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465576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655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419856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Escreva a </a:t>
            </a:r>
            <a:pPr indent="0" marL="0">
              <a:buNone/>
            </a:pPr>
            <a:r>
              <a:rPr lang="en-US" sz="1400" b="1" dirty="0">
                <a:solidFill>
                  <a:srgbClr val="FBBF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 do vídeo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obrigatória: esse texto vai no e-mail do(a) formador(a);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306824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4261104"/>
            <a:ext cx="521208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Anexe o MP4 (até 512MB) e clique em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para análise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40080" y="5257800"/>
            <a:ext cx="5669280" cy="914400"/>
          </a:xfrm>
          <a:prstGeom prst="roundRect">
            <a:avLst>
              <a:gd name="adj" fmla="val 9000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" y="5404104"/>
            <a:ext cx="526694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formador é avisado na hora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5733288"/>
            <a:ext cx="52669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 recebe a descrição que você escreveu e o link do vídeo, já liberado na plataforma.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7574520" y="1737360"/>
            <a:ext cx="3138960" cy="4480560"/>
          </a:xfrm>
          <a:prstGeom prst="roundRect">
            <a:avLst>
              <a:gd name="adj" fmla="val 2622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20" name="Image 0" descr="/home/user/AutoriaSCS-Scrum-cursos/docs/tutoriais/img/mb-publica-vide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84248" y="1847088"/>
            <a:ext cx="2919504" cy="4261104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MB Estúdios</a:t>
            </a:r>
            <a:endParaRPr lang="en-US" sz="950" dirty="0"/>
          </a:p>
        </p:txBody>
      </p:sp>
      <p:sp>
        <p:nvSpPr>
          <p:cNvPr id="22" name="Text 19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11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6. Tratar os apontamentos do formador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398644" y="1463040"/>
            <a:ext cx="3249433" cy="4480560"/>
          </a:xfrm>
          <a:prstGeom prst="roundRect">
            <a:avLst>
              <a:gd name="adj" fmla="val 253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pic>
        <p:nvPicPr>
          <p:cNvPr id="5" name="Image 0" descr="/home/user/AutoriaSCS-Scrum-cursos/docs/tutoriais/img/video-apontamento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08372" y="1572768"/>
            <a:ext cx="3029977" cy="426110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680960" y="1463040"/>
            <a:ext cx="3931920" cy="2377440"/>
          </a:xfrm>
          <a:prstGeom prst="roundRect">
            <a:avLst>
              <a:gd name="adj" fmla="val 3462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882128" y="1609344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cada apontamento traz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882128" y="1938528"/>
            <a:ext cx="3529584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O momento exato (minuto, segundo e frame)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classificação do problema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orientação de correção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Muitas vezes, a captura do frame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7680960" y="4023360"/>
            <a:ext cx="3931920" cy="1920240"/>
          </a:xfrm>
          <a:prstGeom prst="roundRect">
            <a:avLst>
              <a:gd name="adj" fmla="val 4286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882128" y="4169664"/>
            <a:ext cx="35295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a MB faz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882128" y="4498848"/>
            <a:ext cx="352958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Responder na caixinha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Marcar Em correção enquanto trabalha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Marcar Corrigido ao concluir</a:t>
            </a: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endParaRPr lang="en-US" sz="125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situação Aprovado é do formador.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MB Estúdios</a:t>
            </a:r>
            <a:endParaRPr lang="en-US" sz="950" dirty="0"/>
          </a:p>
        </p:txBody>
      </p:sp>
      <p:sp>
        <p:nvSpPr>
          <p:cNvPr id="13" name="Text 10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11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VÍDEOS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 Enviar a versão corrigida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78308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73736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bloco </a:t>
            </a:r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Disponibilizar nova versão corrigida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anexe o novo arquivo;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56032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25603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251460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Descreva no campo de observação </a:t>
            </a:r>
            <a:pPr indent="0" marL="0">
              <a:buNone/>
            </a:pPr>
            <a:r>
              <a:rPr lang="en-US" sz="14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mudou</a:t>
            </a:r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nesta versão;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40080" y="3337560"/>
            <a:ext cx="310896" cy="310896"/>
          </a:xfrm>
          <a:prstGeom prst="ellipse">
            <a:avLst/>
          </a:prstGeom>
          <a:solidFill>
            <a:srgbClr val="22D3EE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33756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710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3291840"/>
            <a:ext cx="10515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Envie: o sistema cria a v2 (v3, v4...), avisa o formador e reabre a análise.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40080" y="4206240"/>
            <a:ext cx="1221638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4206240"/>
            <a:ext cx="122163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analisada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898294" y="42062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209190" y="4206240"/>
            <a:ext cx="1060704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209190" y="4206240"/>
            <a:ext cx="10607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MB corrige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306470" y="42062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3617366" y="4206240"/>
            <a:ext cx="1704442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1D3A5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17366" y="4206240"/>
            <a:ext cx="170444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disponibilizada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5358384" y="4206240"/>
            <a:ext cx="274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5669280" y="4206240"/>
            <a:ext cx="1463040" cy="402336"/>
          </a:xfrm>
          <a:prstGeom prst="roundRect">
            <a:avLst>
              <a:gd name="adj" fmla="val 50000"/>
            </a:avLst>
          </a:prstGeom>
          <a:solidFill>
            <a:srgbClr val="10233F"/>
          </a:solidFill>
          <a:ln w="15240">
            <a:solidFill>
              <a:srgbClr val="34D39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0" y="4206240"/>
            <a:ext cx="1463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Formador aprova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4937760"/>
            <a:ext cx="10972800" cy="1188720"/>
          </a:xfrm>
          <a:prstGeom prst="roundRect">
            <a:avLst>
              <a:gd name="adj" fmla="val 692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1248" y="5084064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41248" y="5413248"/>
            <a:ext cx="10570464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as versões e seus apontamentos ficam guardados. A lista "Comparar versão" permite rever qualquer versão anterior.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MB Estúdios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11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16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SABER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8. O que a conta MB não faz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929384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envia materiais do curso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258568"/>
            <a:ext cx="31638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PDFs e anexos são enviados pelo formador. A MB envia apenas os vídeos.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1783080"/>
            <a:ext cx="3566160" cy="1691640"/>
          </a:xfrm>
          <a:prstGeom prst="roundRect">
            <a:avLst>
              <a:gd name="adj" fmla="val 4865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90288" y="1929384"/>
            <a:ext cx="31638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baixa arquivo avulso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590288" y="2258568"/>
            <a:ext cx="316382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material desce sempre completo, pelo ZIP — é o que garante a ordem.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138160" y="1783080"/>
            <a:ext cx="3474720" cy="1691640"/>
          </a:xfrm>
          <a:prstGeom prst="roundRect">
            <a:avLst>
              <a:gd name="adj" fmla="val 4865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39328" y="1929384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aprova os vídeos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339328" y="2258568"/>
            <a:ext cx="3072384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aprovação final é do(a) formador(a) que analisou o material.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" y="3840480"/>
            <a:ext cx="10972800" cy="2103120"/>
          </a:xfrm>
          <a:prstGeom prst="roundRect">
            <a:avLst>
              <a:gd name="adj" fmla="val 3913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1248" y="3986784"/>
            <a:ext cx="105704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quê?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4315968"/>
            <a:ext cx="10570464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equipe opera só a sua parte do fluxo. Isso evita alterações acidentais e mantém a auditoria limpa: tudo o que a MB faz (envios, downloads e movimentações) fica registrado automaticamente.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MB Estúdios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11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C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566928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Precisa de ajuda?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41248" y="1837944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formador não recebeu o e-mail do vídeo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1248" y="2167128"/>
            <a:ext cx="104790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 que o vídeo aparece na lista de 🎬 Vídeos. Se aparecer, o e-mail foi disparado — peça que confira o spam.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310896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" y="3255264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botão "Baixar todos" não aparece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41248" y="3584448"/>
            <a:ext cx="104790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curso ainda não tem materiais enviados pelo formador.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526280"/>
            <a:ext cx="10881360" cy="1234440"/>
          </a:xfrm>
          <a:prstGeom prst="roundRect">
            <a:avLst>
              <a:gd name="adj" fmla="val 6667"/>
            </a:avLst>
          </a:prstGeom>
          <a:solidFill>
            <a:srgbClr val="10233F"/>
          </a:solidFill>
          <a:ln w="12700">
            <a:solidFill>
              <a:srgbClr val="1D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1248" y="4672584"/>
            <a:ext cx="1047902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consigo mover o status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41248" y="5001768"/>
            <a:ext cx="10479024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E8EE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MB move apenas nas suas 3 transições. Em outra fase, a ação é de outra equipe.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5943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TI do CECAPE  •  </a:t>
            </a:r>
            <a:pPr indent="0" marL="0">
              <a:buNone/>
            </a:pPr>
            <a:r>
              <a:rPr lang="en-US" sz="160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ti.cecape@scseduca.com.br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AutoriaSCS • Gestão de Cursos  —  Tutorial da MB Estúdios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0725912" y="647395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8BAA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11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2026-08-31T17:36:08Z</dcterms:created>
  <dcterms:modified xsi:type="dcterms:W3CDTF">2026-08-31T17:36:08Z</dcterms:modified>
</cp:coreProperties>
</file>